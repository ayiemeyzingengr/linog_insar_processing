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4.png"/><Relationship Id="rId8" Type="http://schemas.openxmlformats.org/officeDocument/2006/relationships/image" Target="../media/image12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Relationship Id="rId11" Type="http://schemas.openxmlformats.org/officeDocument/2006/relationships/image" Target="../media/image6.png"/><Relationship Id="rId12" Type="http://schemas.openxmlformats.org/officeDocument/2006/relationships/image" Target="../media/image14.png"/><Relationship Id="rId13" Type="http://schemas.openxmlformats.org/officeDocument/2006/relationships/image" Target="../media/image7.png"/><Relationship Id="rId14" Type="http://schemas.openxmlformats.org/officeDocument/2006/relationships/image" Target="../media/image15.png"/><Relationship Id="rId15" Type="http://schemas.openxmlformats.org/officeDocument/2006/relationships/image" Target="../media/image8.png"/><Relationship Id="rId16" Type="http://schemas.openxmlformats.org/officeDocument/2006/relationships/image" Target="../media/image16.png"/><Relationship Id="rId17" Type="http://schemas.openxmlformats.org/officeDocument/2006/relationships/image" Target="../media/image9.png"/><Relationship Id="rId18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1.png"/><Relationship Id="rId5" Type="http://schemas.openxmlformats.org/officeDocument/2006/relationships/image" Target="../media/image3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22.jpg"/><Relationship Id="rId9" Type="http://schemas.openxmlformats.org/officeDocument/2006/relationships/image" Target="../media/image23.png"/><Relationship Id="rId10" Type="http://schemas.openxmlformats.org/officeDocument/2006/relationships/image" Target="../media/image24.jpg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LInOG FBS + FBD InSAR processing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PALSAR, pipeline v4.0, one frame: each phase (left) and its output (right); read left to right, row by row.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33272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Set-up and pre-flight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Install ISCE2, MintPy, GDAL, SNAPHU; check provenance; size the machine; count the archive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provenance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24328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2478024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88336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9192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Verified processing environment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2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Software checked, parallel settings sized, scene count matched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24527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25400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icon_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033272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828031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CA6F1E"/>
                </a:solidFill>
                <a:latin typeface="Calibri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8031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Unpack and unify FBS + FBD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79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Unzip L1.1 granules; beam check; sort FBS / FBD; resample FBS to the FBD range grid; band-limit to 14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G1–G6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32119" y="2231136"/>
            <a:ext cx="786384" cy="173736"/>
          </a:xfrm>
          <a:prstGeom prst="roundRect">
            <a:avLst>
              <a:gd name="adj" fmla="val 25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NEW IN YEAR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28815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6382511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92823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79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One unified SLC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79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All dates on one width and bandwidth; 19–24 dates per frame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29015" y="960120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icon_mount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3" y="1033272"/>
            <a:ext cx="502920" cy="502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732519" y="1014984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19" y="1207008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DEM and network design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7" y="1618488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Shared DEM; pairs with temporal baseline ≤ 730 d and perpendicular baseline ≤ 1,500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7" y="2414016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33303" y="960120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4" name="Connector 33"/>
          <p:cNvCxnSpPr/>
          <p:nvPr/>
        </p:nvCxnSpPr>
        <p:spPr>
          <a:xfrm>
            <a:off x="10286999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497311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88167" y="1252728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DEM + interferogram network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88167" y="1783080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Pair list and run files (123–180 pairs formed per frame)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0040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icon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2889504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Coregistration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3192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Align every SLC to one reference date; misregistration inversion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G7–G9, G16, G21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24328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5" name="Connector 44"/>
          <p:cNvCxnSpPr/>
          <p:nvPr/>
        </p:nvCxnSpPr>
        <p:spPr>
          <a:xfrm>
            <a:off x="2478024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2688336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9192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Coregistered SLC stack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79192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All acquisitions on the reference geometry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224527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0" name="Picture 49" descr="icon_frin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8536" y="2889504"/>
            <a:ext cx="502920" cy="5029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4828031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28031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Interferogram generation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79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Form interferograms; multilook 28 × 12; filter; unwrap with SNAPHU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79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G10, G11, G18, G20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28815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6" name="Connector 55"/>
          <p:cNvCxnSpPr/>
          <p:nvPr/>
        </p:nvCxnSpPr>
        <p:spPr>
          <a:xfrm>
            <a:off x="6382511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592823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79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Unwrapped interferograms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79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Interferograms and coherence for every admitted pair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29015" y="2816352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1" name="Picture 60" descr="icon_gr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3" y="2889504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8732519" y="2871216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2519" y="3063240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Visual quality control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02167" y="3474720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Phase and amplitude report pages for every interferogram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02167" y="4270248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visual check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433303" y="2816352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7" name="Connector 66"/>
          <p:cNvCxnSpPr/>
          <p:nvPr/>
        </p:nvCxnSpPr>
        <p:spPr>
          <a:xfrm>
            <a:off x="10286999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10497311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88167" y="3108960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Interferogram report grids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88167" y="3639312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Poor pairs flagged and excluded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20040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2" name="Picture 71" descr="icon_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4745736"/>
            <a:ext cx="502920" cy="50292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923544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3544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SBAS time-series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3192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MintPy inversion; DEM-error correction; ramp removal; coherence and water masks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G12, G13, G15, G19, G22, G23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624328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8" name="Connector 77"/>
          <p:cNvCxnSpPr/>
          <p:nvPr/>
        </p:nvCxnSpPr>
        <p:spPr>
          <a:xfrm>
            <a:off x="2478024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2688336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79192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Displacement time series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679192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LOS velocity, displacement per date, temporal coherence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24527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3" name="Picture 82" descr="icon_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8536" y="4745736"/>
            <a:ext cx="502920" cy="5029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828031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828031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Geocoding and delivery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97679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Geocode to a common 1/1200° (~90 m) grid; 16 products per frame; 27-check verification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79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G14; 27 checks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528815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9" name="Connector 88"/>
          <p:cNvCxnSpPr/>
          <p:nvPr/>
        </p:nvCxnSpPr>
        <p:spPr>
          <a:xfrm>
            <a:off x="6382511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6592823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83679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16 geocoded products per frame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83679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LOS, vertical, horizontal GeoTIFFs; KMZ; hillshade maps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129015" y="4672584"/>
            <a:ext cx="214884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4" name="Picture 93" descr="icon_le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93023" y="4745736"/>
            <a:ext cx="502920" cy="50292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732519" y="4727448"/>
            <a:ext cx="150876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732519" y="4919472"/>
            <a:ext cx="150876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Interpretation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02167" y="5330952"/>
            <a:ext cx="202082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Read the velocity maps; measure subsidence against nearby stable ground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2167" y="6126480"/>
            <a:ext cx="202082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two-track check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433303" y="4672584"/>
            <a:ext cx="139903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0" name="Connector 99"/>
          <p:cNvCxnSpPr/>
          <p:nvPr/>
        </p:nvCxnSpPr>
        <p:spPr>
          <a:xfrm>
            <a:off x="10286999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10497311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88167" y="4965192"/>
            <a:ext cx="1307591" cy="5029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E8449"/>
                </a:solidFill>
                <a:latin typeface="Calibri"/>
              </a:rPr>
              <a:t>Ground-deformation results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488167" y="5495544"/>
            <a:ext cx="1307591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e.g. Cabanatuan 4.4–4.7 cm/yr vertical, two tracks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032503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7936991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Freeform 105"/>
          <p:cNvSpPr/>
          <p:nvPr/>
        </p:nvSpPr>
        <p:spPr>
          <a:xfrm>
            <a:off x="2171700" y="2660904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4032503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7936991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Freeform 108"/>
          <p:cNvSpPr/>
          <p:nvPr/>
        </p:nvSpPr>
        <p:spPr>
          <a:xfrm>
            <a:off x="2171700" y="4517136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>
            <a:off x="4032503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7936991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ounded Rectangle 111"/>
          <p:cNvSpPr/>
          <p:nvPr/>
        </p:nvSpPr>
        <p:spPr>
          <a:xfrm>
            <a:off x="36576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8580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new for FBS+FBD processing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74320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306324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carried over from FBS-only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12064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544068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output of the phase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89520" y="6464807"/>
            <a:ext cx="43891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117A65"/>
                </a:solidFill>
                <a:latin typeface="Calibri"/>
              </a:rPr>
              <a:t>Green italic: automated quality gates (G1–G23); a failed gate stops the phase.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LInOG FBS + FBD InSAR processing workflow: real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PALSAR, pipeline v4.0, one frame: each phase (left) and its output (right); read left to right, row by row. Sample: Path 449 Frame 0280.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33272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23544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Set-up and pre-flight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Install ISCE2, MintPy, GDAL, SNAPHU; check provenance; size the machine; count the archive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provenance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/>
          <p:nvPr/>
        </p:nvCxnSpPr>
        <p:spPr>
          <a:xfrm>
            <a:off x="2340864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51176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42032" y="1234440"/>
            <a:ext cx="1426463" cy="1024128"/>
          </a:xfrm>
          <a:prstGeom prst="rect">
            <a:avLst/>
          </a:prstGeom>
          <a:solidFill>
            <a:srgbClr val="1E1E1E"/>
          </a:solidFill>
          <a:ln w="9525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560320" y="1252728"/>
            <a:ext cx="1389887" cy="9875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# pre-flight record (felix, 17 Sep 2026)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provenance ... OK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ISCE2 · MintPy · GDAL · SNAPHU OK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48 cores, 125 GB RAM</a:t>
            </a:r>
          </a:p>
          <a:p>
            <a:pPr algn="l"/>
            <a:r>
              <a:rPr sz="600" b="0" i="0">
                <a:solidFill>
                  <a:srgbClr val="EAEAEA"/>
                </a:solidFill>
                <a:latin typeface="Consolas"/>
              </a:rPr>
              <a:t>779 ALOS-1 L1.1 zips</a:t>
            </a:r>
          </a:p>
          <a:p>
            <a:pPr algn="l"/>
            <a:r>
              <a:rPr sz="600" b="0" i="0">
                <a:solidFill>
                  <a:srgbClr val="7DCEA0"/>
                </a:solidFill>
                <a:latin typeface="Consolas"/>
              </a:rPr>
              <a:t>RESULT: PASS 14/14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3744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Summary of the pre-flight record: all 14 checks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24527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25400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icon_m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8536" y="1033272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828031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CA6F1E"/>
                </a:solidFill>
                <a:latin typeface="Calibri"/>
              </a:rPr>
              <a:t>Phase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1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Unpack and unify FBS + FBD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79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Unzip L1.1 granules; beam check; sort FBS / FBD; resample FBS to the FBD range grid; band-limit to 14 MHz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79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G1–G6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94959" y="2231136"/>
            <a:ext cx="786384" cy="173736"/>
          </a:xfrm>
          <a:prstGeom prst="roundRect">
            <a:avLst>
              <a:gd name="adj" fmla="val 25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NEW IN YEAR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1655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6245351" y="1810512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455664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26" name="Picture 25" descr="thumb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19" y="1427134"/>
            <a:ext cx="1426463" cy="63873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428231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Range spectra: FBS before / after band-limiting match FBD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29015" y="960120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icon_mount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3" y="1033272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732519" y="1014984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19" y="1207008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DEM and network design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2167" y="1618488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Shared DEM; pairs with temporal baseline ≤ 730 d and perpendicular baseline ≤ 1,500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7" y="2414016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96144" y="960120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Connector 34"/>
          <p:cNvCxnSpPr/>
          <p:nvPr/>
        </p:nvCxnSpPr>
        <p:spPr>
          <a:xfrm>
            <a:off x="10149840" y="1810512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360152" y="1024128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37" name="Picture 36" descr="thumb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1488" y="1234440"/>
            <a:ext cx="1365504" cy="10241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332719" y="2286000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Baseline network of the pairs, 2007–2011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icon_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2889504"/>
            <a:ext cx="502920" cy="5029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23544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Coregistration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3192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Align every SLC to one reference date; misregistration inversion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3192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G7–G9, G16, G21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87168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6" name="Connector 45"/>
          <p:cNvCxnSpPr/>
          <p:nvPr/>
        </p:nvCxnSpPr>
        <p:spPr>
          <a:xfrm>
            <a:off x="2340864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2551176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48" name="Picture 47" descr="thumb_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2032" y="3195401"/>
            <a:ext cx="1426463" cy="81466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523744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Coregistration residuals per date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7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1" name="Picture 50" descr="icon_frin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8536" y="2889504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828031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28031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Interferogram generation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79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Form interferograms; multilook 28 × 12; filter; unwrap with SNAPHU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79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G10, G11, G18, G20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91655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7" name="Connector 56"/>
          <p:cNvCxnSpPr/>
          <p:nvPr/>
        </p:nvCxnSpPr>
        <p:spPr>
          <a:xfrm>
            <a:off x="6245351" y="3666744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455664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59" name="Picture 58" descr="thumb_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75183" y="3090672"/>
            <a:ext cx="1169137" cy="102412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428231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Filtered interferogram, 8 Jan – 23 Feb 2008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29015" y="2816352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icon_gri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93023" y="2889504"/>
            <a:ext cx="502920" cy="50292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732519" y="2871216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4.5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2519" y="3063240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Visual quality control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02167" y="3474720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Phase and amplitude report pages for every interferogram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02167" y="4270248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visual check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0296144" y="2816352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8" name="Connector 67"/>
          <p:cNvCxnSpPr/>
          <p:nvPr/>
        </p:nvCxnSpPr>
        <p:spPr>
          <a:xfrm>
            <a:off x="10149840" y="3666744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10360152" y="2880360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70" name="Picture 69" descr="thumb_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12390" y="3090672"/>
            <a:ext cx="1303699" cy="1024128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0332719" y="4142232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Report page used to inspect every pair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3" name="Picture 72" descr="icon_char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4048" y="4745736"/>
            <a:ext cx="502920" cy="5029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23544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3544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SBAS time-series analysis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3192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MintPy inversion; DEM-error correction; ramp removal; coherence and water masks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93192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gates G12, G13, G15, G19, G22, G23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487168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9" name="Connector 78"/>
          <p:cNvCxnSpPr/>
          <p:nvPr/>
        </p:nvCxnSpPr>
        <p:spPr>
          <a:xfrm>
            <a:off x="2340864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51176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81" name="Picture 80" descr="thumb_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2032" y="5199034"/>
            <a:ext cx="1426463" cy="51986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2523744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Network coloured by coherence; coherence matrix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224527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icon_m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88536" y="4745736"/>
            <a:ext cx="502920" cy="5029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4828031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28031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Geocoding and delivery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297679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Geocode to a common 1/1200° (~90 m) grid; 16 products per frame; 27-check verification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97679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gate G14; 27 checks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91655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0" name="Connector 89"/>
          <p:cNvCxnSpPr/>
          <p:nvPr/>
        </p:nvCxnSpPr>
        <p:spPr>
          <a:xfrm>
            <a:off x="6245351" y="5522976"/>
            <a:ext cx="137161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/>
          <p:cNvSpPr/>
          <p:nvPr/>
        </p:nvSpPr>
        <p:spPr>
          <a:xfrm>
            <a:off x="6455664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92" name="Picture 91" descr="thumb_7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3997" y="4946904"/>
            <a:ext cx="1411508" cy="10241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6428231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Delivered LOS velocity map (cm/yr)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129015" y="4672584"/>
            <a:ext cx="2011680" cy="170078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5" name="Picture 94" descr="icon_lens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193023" y="4745736"/>
            <a:ext cx="502920" cy="5029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8732519" y="4727448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900" b="1" i="0">
                <a:solidFill>
                  <a:srgbClr val="1B4F72"/>
                </a:solidFill>
                <a:latin typeface="Calibri"/>
              </a:rPr>
              <a:t>Phase 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732519" y="4919472"/>
            <a:ext cx="1371600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50" b="1" i="0">
                <a:solidFill>
                  <a:srgbClr val="1B4F72"/>
                </a:solidFill>
                <a:latin typeface="Calibri"/>
              </a:rPr>
              <a:t>Interpretation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2167" y="5330952"/>
            <a:ext cx="1883664" cy="8686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Calibri"/>
              </a:rPr>
              <a:t>Read the velocity maps; measure subsidence against nearby stable ground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02167" y="6126480"/>
            <a:ext cx="1883664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50" b="0" i="1">
                <a:solidFill>
                  <a:srgbClr val="117A65"/>
                </a:solidFill>
                <a:latin typeface="Calibri"/>
              </a:rPr>
              <a:t>two-track check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296144" y="4672584"/>
            <a:ext cx="1536191" cy="170078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1" name="Connector 100"/>
          <p:cNvCxnSpPr/>
          <p:nvPr/>
        </p:nvCxnSpPr>
        <p:spPr>
          <a:xfrm>
            <a:off x="10149840" y="5522976"/>
            <a:ext cx="137160" cy="0"/>
          </a:xfrm>
          <a:prstGeom prst="line">
            <a:avLst/>
          </a:prstGeom>
          <a:ln w="19050">
            <a:solidFill>
              <a:srgbClr val="1E844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ounded Rectangle 101"/>
          <p:cNvSpPr/>
          <p:nvPr/>
        </p:nvSpPr>
        <p:spPr>
          <a:xfrm>
            <a:off x="10360152" y="4736592"/>
            <a:ext cx="502920" cy="173736"/>
          </a:xfrm>
          <a:prstGeom prst="roundRect">
            <a:avLst>
              <a:gd name="adj" fmla="val 25000"/>
            </a:avLst>
          </a:prstGeom>
          <a:solidFill>
            <a:srgbClr val="1E8449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OUTPUT</a:t>
            </a:r>
          </a:p>
        </p:txBody>
      </p:sp>
      <p:pic>
        <p:nvPicPr>
          <p:cNvPr id="103" name="Picture 102" descr="thumb_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351008" y="5056388"/>
            <a:ext cx="1426463" cy="805159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10332719" y="5998464"/>
            <a:ext cx="1463039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700" b="0" i="0">
                <a:solidFill>
                  <a:srgbClr val="222222"/>
                </a:solidFill>
                <a:latin typeface="Calibri"/>
              </a:rPr>
              <a:t>Cabanatuan bowl, Path 448 and Path 449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032503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7936991" y="1810512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Freeform 106"/>
          <p:cNvSpPr/>
          <p:nvPr/>
        </p:nvSpPr>
        <p:spPr>
          <a:xfrm>
            <a:off x="2171700" y="2660904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4032503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 108"/>
          <p:cNvCxnSpPr/>
          <p:nvPr/>
        </p:nvCxnSpPr>
        <p:spPr>
          <a:xfrm>
            <a:off x="7936991" y="3666744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Freeform 109"/>
          <p:cNvSpPr/>
          <p:nvPr/>
        </p:nvSpPr>
        <p:spPr>
          <a:xfrm>
            <a:off x="2171700" y="4517136"/>
            <a:ext cx="7808976" cy="155448"/>
          </a:xfrm>
          <a:custGeom>
            <a:avLst/>
            <a:gdLst/>
            <a:ahLst/>
            <a:cxnLst/>
            <a:rect l="l" t="t" r="r" b="b"/>
            <a:pathLst>
              <a:path w="7808976" h="155448">
                <a:moveTo>
                  <a:pt x="7808976" y="0"/>
                </a:moveTo>
                <a:lnTo>
                  <a:pt x="7808976" y="77724"/>
                </a:lnTo>
                <a:lnTo>
                  <a:pt x="0" y="77724"/>
                </a:lnTo>
                <a:lnTo>
                  <a:pt x="0" y="155448"/>
                </a:lnTo>
              </a:path>
            </a:pathLst>
          </a:custGeom>
          <a:noFill/>
          <a:ln w="19050">
            <a:solidFill>
              <a:srgbClr val="1B4F72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4032503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936991" y="5522976"/>
            <a:ext cx="182880" cy="0"/>
          </a:xfrm>
          <a:prstGeom prst="line">
            <a:avLst/>
          </a:prstGeom>
          <a:ln w="25400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6576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DF2E9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8580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new for FBS+FBD processing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274320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306324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carried over from FBS-only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120640" y="6492240"/>
            <a:ext cx="274320" cy="146304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5440680" y="6464807"/>
            <a:ext cx="201168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0">
                <a:solidFill>
                  <a:srgbClr val="555555"/>
                </a:solidFill>
                <a:latin typeface="Calibri"/>
              </a:rPr>
              <a:t>output of the phase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9520" y="6464807"/>
            <a:ext cx="4389120" cy="20116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800" b="0" i="1">
                <a:solidFill>
                  <a:srgbClr val="117A65"/>
                </a:solidFill>
                <a:latin typeface="Calibri"/>
              </a:rPr>
              <a:t>Green italic: automated quality gates (G1–G23); a failed gate stops the phase.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Progression of LInOG ground-velocity coverage, 2007–2011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ALOS-1 PALSAR ascending tracks, deramped LOS velocity, same ±5 cm/yr colour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5880" y="960120"/>
            <a:ext cx="3291840" cy="329184"/>
          </a:xfrm>
          <a:prstGeom prst="roundRect">
            <a:avLst>
              <a:gd name="adj" fmla="val 30000"/>
            </a:avLst>
          </a:prstGeom>
          <a:solidFill>
            <a:srgbClr val="7F8C8D"/>
          </a:solidFill>
          <a:ln w="15875">
            <a:solidFill>
              <a:srgbClr val="7F8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YEAR 1 (reported June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4937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1B4F72"/>
                </a:solidFill>
                <a:latin typeface="Calibri"/>
              </a:rPr>
              <a:t>FBS only · Path 448 · 5 frames</a:t>
            </a:r>
          </a:p>
        </p:txBody>
      </p:sp>
      <p:pic>
        <p:nvPicPr>
          <p:cNvPr id="6" name="Picture 5" descr="panel_y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87" y="1645920"/>
            <a:ext cx="3458825" cy="43434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6053328"/>
            <a:ext cx="4480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6080760"/>
            <a:ext cx="438912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10 dates/frame · 34–36 interferograms/frame</a:t>
            </a:r>
          </a:p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~10,000 km² reported · no water mask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960120"/>
            <a:ext cx="3291840" cy="329184"/>
          </a:xfrm>
          <a:prstGeom prst="roundRect">
            <a:avLst>
              <a:gd name="adj" fmla="val 30000"/>
            </a:avLst>
          </a:prstGeom>
          <a:solidFill>
            <a:srgbClr val="CA6F1E"/>
          </a:solidFill>
          <a:ln w="15875">
            <a:solidFill>
              <a:srgbClr val="CA6F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YEAR 2, QUARTER 2 (this report)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325880"/>
            <a:ext cx="493776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1B4F72"/>
                </a:solidFill>
                <a:latin typeface="Calibri"/>
              </a:rPr>
              <a:t>FBS + FBD · Paths 447–449 · 12 frames</a:t>
            </a:r>
          </a:p>
        </p:txBody>
      </p:sp>
      <p:pic>
        <p:nvPicPr>
          <p:cNvPr id="11" name="Picture 10" descr="panel_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507" y="1645920"/>
            <a:ext cx="3458825" cy="43434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6053328"/>
            <a:ext cx="44805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59" y="6080760"/>
            <a:ext cx="4389120" cy="53035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19–24 dates/frame · 1,634 interferograms in total</a:t>
            </a:r>
          </a:p>
          <a:p>
            <a:pPr algn="l"/>
            <a:r>
              <a:rPr sz="1000" b="0" i="0">
                <a:solidFill>
                  <a:srgbClr val="222222"/>
                </a:solidFill>
                <a:latin typeface="Calibri"/>
              </a:rPr>
              <a:t>27,893 km² with valid data · water-masked (v1.2)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40680" y="3429000"/>
            <a:ext cx="548640" cy="411480"/>
          </a:xfrm>
          <a:prstGeom prst="rightArrow">
            <a:avLst/>
          </a:prstGeom>
          <a:solidFill>
            <a:srgbClr val="CA6F1E"/>
          </a:solidFill>
          <a:ln>
            <a:solidFill>
              <a:srgbClr val="CA6F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lor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8520" y="2694790"/>
            <a:ext cx="1097280" cy="21084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4114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2200" b="1" i="0">
                <a:solidFill>
                  <a:srgbClr val="1B4F72"/>
                </a:solidFill>
                <a:latin typeface="Calibri"/>
              </a:rPr>
              <a:t>LInOG tutorial route on EarthScope GeoLab (manual v4.0, Chapter 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03504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Browser-based JupyterLab server: trainees run the LInOG notebook on a four-date demonstration stack, without access to the project 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84632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1</a:t>
            </a:r>
          </a:p>
        </p:txBody>
      </p:sp>
      <p:pic>
        <p:nvPicPr>
          <p:cNvPr id="6" name="Picture 5" descr="icon_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1280160"/>
            <a:ext cx="658368" cy="6583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EarthScope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Google log-in to the GeoLab hub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85416" y="1984248"/>
            <a:ext cx="182880" cy="0"/>
          </a:xfrm>
          <a:prstGeom prst="line">
            <a:avLst/>
          </a:prstGeom>
          <a:ln w="22225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86584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59736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2</a:t>
            </a:r>
          </a:p>
        </p:txBody>
      </p:sp>
      <p:pic>
        <p:nvPicPr>
          <p:cNvPr id="12" name="Picture 11" descr="icon_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1280160"/>
            <a:ext cx="658368" cy="658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32304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Start a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59736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29 GB profile: 3.66 CPU cores, 29,776 MiB memory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60520" y="1984248"/>
            <a:ext cx="182880" cy="0"/>
          </a:xfrm>
          <a:prstGeom prst="line">
            <a:avLst/>
          </a:prstGeom>
          <a:ln w="22225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61688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34840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3</a:t>
            </a:r>
          </a:p>
        </p:txBody>
      </p:sp>
      <p:pic>
        <p:nvPicPr>
          <p:cNvPr id="18" name="Picture 17" descr="icon_arch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1280160"/>
            <a:ext cx="658368" cy="658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07408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One-time install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ISCE2, MintPy, GDAL, SNAPHU into home (~7 min)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35624" y="1984248"/>
            <a:ext cx="182880" cy="0"/>
          </a:xfrm>
          <a:prstGeom prst="line">
            <a:avLst/>
          </a:prstGeom>
          <a:ln w="22225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36792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9944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4</a:t>
            </a:r>
          </a:p>
        </p:txBody>
      </p:sp>
      <p:pic>
        <p:nvPicPr>
          <p:cNvPr id="24" name="Picture 23" descr="icon_mounta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5432" y="1280160"/>
            <a:ext cx="658368" cy="658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82512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Demonstration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Path 449 Frame 0290: 4 dates, 6 pairs (2008)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110728" y="1984248"/>
            <a:ext cx="182880" cy="0"/>
          </a:xfrm>
          <a:prstGeom prst="line">
            <a:avLst/>
          </a:prstGeom>
          <a:ln w="22225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311896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85048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5</a:t>
            </a:r>
          </a:p>
        </p:txBody>
      </p:sp>
      <p:pic>
        <p:nvPicPr>
          <p:cNvPr id="30" name="Picture 29" descr="icon_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280160"/>
            <a:ext cx="658368" cy="658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357616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Run the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5048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Cells 0–18 call the LInOG scripts, Phases 0–6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85832" y="1984248"/>
            <a:ext cx="182880" cy="0"/>
          </a:xfrm>
          <a:prstGeom prst="line">
            <a:avLst/>
          </a:prstGeom>
          <a:ln w="22225">
            <a:solidFill>
              <a:srgbClr val="1B4F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287000" y="1005840"/>
            <a:ext cx="1755648" cy="1965960"/>
          </a:xfrm>
          <a:prstGeom prst="roundRect">
            <a:avLst>
              <a:gd name="adj" fmla="val 8000"/>
            </a:avLst>
          </a:prstGeom>
          <a:solidFill>
            <a:srgbClr val="EEF5FB"/>
          </a:solidFill>
          <a:ln w="15875">
            <a:solidFill>
              <a:srgbClr val="1B4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360152" y="1051560"/>
            <a:ext cx="914400" cy="22860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/>
            <a:r>
              <a:rPr sz="1000" b="1" i="0">
                <a:solidFill>
                  <a:srgbClr val="1B4F72"/>
                </a:solidFill>
                <a:latin typeface="Calibri"/>
              </a:rPr>
              <a:t>Step 6</a:t>
            </a:r>
          </a:p>
        </p:txBody>
      </p:sp>
      <p:pic>
        <p:nvPicPr>
          <p:cNvPr id="36" name="Picture 35" descr="icon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35640" y="1280160"/>
            <a:ext cx="658368" cy="6583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332720" y="1993392"/>
            <a:ext cx="1664207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000" b="1" i="0">
                <a:solidFill>
                  <a:srgbClr val="1B4F72"/>
                </a:solidFill>
                <a:latin typeface="Calibri"/>
              </a:rPr>
              <a:t>Check and deliver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0152" y="2286000"/>
            <a:ext cx="1609344" cy="64008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18-item run check; 16 products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108960"/>
            <a:ext cx="11430000" cy="2743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1200" b="1" i="0">
                <a:solidFill>
                  <a:srgbClr val="1E8449"/>
                </a:solidFill>
                <a:latin typeface="Calibri"/>
              </a:rPr>
              <a:t>REAL OUTPUTS PRODUCED ON GEOLAB (September 2026; four-date demonstration stack, for training only)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" y="3474720"/>
            <a:ext cx="3703320" cy="3154680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1" name="Picture 40" descr="s35_1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208" y="4056278"/>
            <a:ext cx="3483863" cy="1625803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02920" y="6217920"/>
            <a:ext cx="3520439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Phase 4.5: interferogram report sheet (GeoLab, 20 Sept 2026)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97680" y="3474720"/>
            <a:ext cx="3703320" cy="3154680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s35_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8608" y="3566159"/>
            <a:ext cx="3141462" cy="260604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389120" y="6217920"/>
            <a:ext cx="3520439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Phase 5: velocity in radar coordinates (GeoLab, 22 Sept 2026)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83879" y="3474720"/>
            <a:ext cx="3703320" cy="3154680"/>
          </a:xfrm>
          <a:prstGeom prst="roundRect">
            <a:avLst>
              <a:gd name="adj" fmla="val 8000"/>
            </a:avLst>
          </a:prstGeom>
          <a:solidFill>
            <a:srgbClr val="F4FBF6"/>
          </a:solidFill>
          <a:ln w="15875">
            <a:solidFill>
              <a:srgbClr val="1E84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7" name="Picture 46" descr="s35_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93607" y="3605311"/>
            <a:ext cx="3483863" cy="25277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75319" y="6217920"/>
            <a:ext cx="3520439" cy="36576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ctr"/>
            <a:r>
              <a:rPr sz="900" b="0" i="0">
                <a:solidFill>
                  <a:srgbClr val="222222"/>
                </a:solidFill>
                <a:latin typeface="Calibri"/>
              </a:rPr>
              <a:t>Phase 6: delivered velocity map, cm/yr (GeoLab, 20 Sept 2026)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