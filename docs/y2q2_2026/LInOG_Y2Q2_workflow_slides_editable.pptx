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8" Type="http://schemas.openxmlformats.org/officeDocument/2006/relationships/notesMaster" Target="notesMasters/notesMaster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3.png"/><Relationship Id="rId6" Type="http://schemas.openxmlformats.org/officeDocument/2006/relationships/image" Target="../media/image11.png"/><Relationship Id="rId7" Type="http://schemas.openxmlformats.org/officeDocument/2006/relationships/image" Target="../media/image4.png"/><Relationship Id="rId8" Type="http://schemas.openxmlformats.org/officeDocument/2006/relationships/image" Target="../media/image12.png"/><Relationship Id="rId9" Type="http://schemas.openxmlformats.org/officeDocument/2006/relationships/image" Target="../media/image5.png"/><Relationship Id="rId10" Type="http://schemas.openxmlformats.org/officeDocument/2006/relationships/image" Target="../media/image13.png"/><Relationship Id="rId11" Type="http://schemas.openxmlformats.org/officeDocument/2006/relationships/image" Target="../media/image6.png"/><Relationship Id="rId12" Type="http://schemas.openxmlformats.org/officeDocument/2006/relationships/image" Target="../media/image14.png"/><Relationship Id="rId13" Type="http://schemas.openxmlformats.org/officeDocument/2006/relationships/image" Target="../media/image7.png"/><Relationship Id="rId14" Type="http://schemas.openxmlformats.org/officeDocument/2006/relationships/image" Target="../media/image15.png"/><Relationship Id="rId15" Type="http://schemas.openxmlformats.org/officeDocument/2006/relationships/image" Target="../media/image8.png"/><Relationship Id="rId16" Type="http://schemas.openxmlformats.org/officeDocument/2006/relationships/image" Target="../media/image16.png"/><Relationship Id="rId17" Type="http://schemas.openxmlformats.org/officeDocument/2006/relationships/image" Target="../media/image9.png"/><Relationship Id="rId18" Type="http://schemas.openxmlformats.org/officeDocument/2006/relationships/image" Target="../media/image1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1.png"/><Relationship Id="rId5" Type="http://schemas.openxmlformats.org/officeDocument/2006/relationships/image" Target="../media/image3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22.jpg"/><Relationship Id="rId9" Type="http://schemas.openxmlformats.org/officeDocument/2006/relationships/image" Target="../media/image23.png"/><Relationship Id="rId10" Type="http://schemas.openxmlformats.org/officeDocument/2006/relationships/image" Target="../media/image24.jpg"/></Relationships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4114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2200" b="1" i="0">
                <a:solidFill>
                  <a:srgbClr val="1B4F72"/>
                </a:solidFill>
                <a:latin typeface="Calibri"/>
              </a:rPr>
              <a:t>LInOG FBS + FBD InSAR processing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03504"/>
            <a:ext cx="1143000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ALOS-1 PALSAR, pipeline v4.0, one frame: each phase (left) and its output (right); read left to right, row by row.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960120"/>
            <a:ext cx="2148840" cy="1700784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 w="15875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icon_g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033272"/>
            <a:ext cx="502920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23544" y="1014984"/>
            <a:ext cx="150876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1" i="0">
                <a:solidFill>
                  <a:srgbClr val="1B4F72"/>
                </a:solidFill>
                <a:latin typeface="Calibri"/>
              </a:rPr>
              <a:t>Phase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" y="1207008"/>
            <a:ext cx="1508760" cy="38404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050" b="1" i="0">
                <a:solidFill>
                  <a:srgbClr val="1B4F72"/>
                </a:solidFill>
                <a:latin typeface="Calibri"/>
              </a:rPr>
              <a:t>Set-up and pre-flight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1618488"/>
            <a:ext cx="2020824" cy="8686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Calibri"/>
              </a:rPr>
              <a:t>Install ISCE2, MintPy, GDAL, SNAPHU; check provenance; size the machine; count the archive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" y="2414016"/>
            <a:ext cx="2020824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750" b="0" i="1">
                <a:solidFill>
                  <a:srgbClr val="117A65"/>
                </a:solidFill>
                <a:latin typeface="Calibri"/>
              </a:rPr>
              <a:t>provenance check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24328" y="960120"/>
            <a:ext cx="1399031" cy="1700784"/>
          </a:xfrm>
          <a:prstGeom prst="roundRect">
            <a:avLst>
              <a:gd name="adj" fmla="val 8000"/>
            </a:avLst>
          </a:prstGeom>
          <a:solidFill>
            <a:srgbClr val="F4FBF6"/>
          </a:solidFill>
          <a:ln w="15875">
            <a:solidFill>
              <a:srgbClr val="1E84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1" name="Connector 10"/>
          <p:cNvCxnSpPr/>
          <p:nvPr/>
        </p:nvCxnSpPr>
        <p:spPr>
          <a:xfrm>
            <a:off x="2478024" y="1810512"/>
            <a:ext cx="137160" cy="0"/>
          </a:xfrm>
          <a:prstGeom prst="line">
            <a:avLst/>
          </a:prstGeom>
          <a:ln w="19050">
            <a:solidFill>
              <a:srgbClr val="1E844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688336" y="1024128"/>
            <a:ext cx="502920" cy="173736"/>
          </a:xfrm>
          <a:prstGeom prst="roundRect">
            <a:avLst>
              <a:gd name="adj" fmla="val 25000"/>
            </a:avLst>
          </a:prstGeom>
          <a:solidFill>
            <a:srgbClr val="1E8449"/>
          </a:solidFill>
          <a:ln w="15875">
            <a:solidFill>
              <a:srgbClr val="1E84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Calibri"/>
              </a:rPr>
              <a:t>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79192" y="1252728"/>
            <a:ext cx="1307591" cy="5029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1" i="0">
                <a:solidFill>
                  <a:srgbClr val="1E8449"/>
                </a:solidFill>
                <a:latin typeface="Calibri"/>
              </a:rPr>
              <a:t>Verified processing environment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79192" y="1783080"/>
            <a:ext cx="1307591" cy="8686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Calibri"/>
              </a:rPr>
              <a:t>Software checked, parallel settings sized, scene count matched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24527" y="960120"/>
            <a:ext cx="2148840" cy="1700784"/>
          </a:xfrm>
          <a:prstGeom prst="roundRect">
            <a:avLst>
              <a:gd name="adj" fmla="val 8000"/>
            </a:avLst>
          </a:prstGeom>
          <a:solidFill>
            <a:srgbClr val="FDF2E9"/>
          </a:solidFill>
          <a:ln w="25400">
            <a:solidFill>
              <a:srgbClr val="CA6F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icon_mer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8536" y="1033272"/>
            <a:ext cx="502920" cy="5029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828031" y="1014984"/>
            <a:ext cx="150876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1" i="0">
                <a:solidFill>
                  <a:srgbClr val="CA6F1E"/>
                </a:solidFill>
                <a:latin typeface="Calibri"/>
              </a:rPr>
              <a:t>Phase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8031" y="1207008"/>
            <a:ext cx="1508760" cy="38404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050" b="1" i="0">
                <a:solidFill>
                  <a:srgbClr val="1B4F72"/>
                </a:solidFill>
                <a:latin typeface="Calibri"/>
              </a:rPr>
              <a:t>Unpack and unify FBS + FBD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79" y="1618488"/>
            <a:ext cx="2020824" cy="8686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Calibri"/>
              </a:rPr>
              <a:t>Unzip L1.1 granules; beam check; sort FBS / FBD; band-limit FBS to 14 MHz at native 4.68 m range sampling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79" y="2414016"/>
            <a:ext cx="2020824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750" b="0" i="1">
                <a:solidFill>
                  <a:srgbClr val="117A65"/>
                </a:solidFill>
                <a:latin typeface="Calibri"/>
              </a:rPr>
              <a:t>gates G1–G6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532119" y="2231136"/>
            <a:ext cx="786384" cy="173736"/>
          </a:xfrm>
          <a:prstGeom prst="roundRect">
            <a:avLst>
              <a:gd name="adj" fmla="val 25000"/>
            </a:avLst>
          </a:prstGeom>
          <a:solidFill>
            <a:srgbClr val="CA6F1E"/>
          </a:solidFill>
          <a:ln w="15875">
            <a:solidFill>
              <a:srgbClr val="CA6F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Calibri"/>
              </a:rPr>
              <a:t>NEW IN YEAR 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28815" y="960120"/>
            <a:ext cx="1399031" cy="1700784"/>
          </a:xfrm>
          <a:prstGeom prst="roundRect">
            <a:avLst>
              <a:gd name="adj" fmla="val 8000"/>
            </a:avLst>
          </a:prstGeom>
          <a:solidFill>
            <a:srgbClr val="F4FBF6"/>
          </a:solidFill>
          <a:ln w="15875">
            <a:solidFill>
              <a:srgbClr val="1E84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3" name="Connector 22"/>
          <p:cNvCxnSpPr/>
          <p:nvPr/>
        </p:nvCxnSpPr>
        <p:spPr>
          <a:xfrm>
            <a:off x="6382511" y="1810512"/>
            <a:ext cx="137160" cy="0"/>
          </a:xfrm>
          <a:prstGeom prst="line">
            <a:avLst/>
          </a:prstGeom>
          <a:ln w="19050">
            <a:solidFill>
              <a:srgbClr val="1E844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592823" y="1024128"/>
            <a:ext cx="502920" cy="173736"/>
          </a:xfrm>
          <a:prstGeom prst="roundRect">
            <a:avLst>
              <a:gd name="adj" fmla="val 25000"/>
            </a:avLst>
          </a:prstGeom>
          <a:solidFill>
            <a:srgbClr val="1E8449"/>
          </a:solidFill>
          <a:ln w="15875">
            <a:solidFill>
              <a:srgbClr val="1E84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Calibri"/>
              </a:rPr>
              <a:t>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79" y="1252728"/>
            <a:ext cx="1307591" cy="5029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1" i="0">
                <a:solidFill>
                  <a:srgbClr val="1E8449"/>
                </a:solidFill>
                <a:latin typeface="Calibri"/>
              </a:rPr>
              <a:t>One unified SLC stack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79" y="1783080"/>
            <a:ext cx="1307591" cy="8686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Calibri"/>
              </a:rPr>
              <a:t>All dates at one 14 MHz bandwidth; 19–24 dates per frame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29015" y="960120"/>
            <a:ext cx="2148840" cy="1700784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 w="15875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8" name="Picture 27" descr="icon_mount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3023" y="1033272"/>
            <a:ext cx="502920" cy="50292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732519" y="1014984"/>
            <a:ext cx="150876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1" i="0">
                <a:solidFill>
                  <a:srgbClr val="1B4F72"/>
                </a:solidFill>
                <a:latin typeface="Calibri"/>
              </a:rPr>
              <a:t>Phase 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32519" y="1207008"/>
            <a:ext cx="1508760" cy="38404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050" b="1" i="0">
                <a:solidFill>
                  <a:srgbClr val="1B4F72"/>
                </a:solidFill>
                <a:latin typeface="Calibri"/>
              </a:rPr>
              <a:t>DEM and network design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02167" y="1618488"/>
            <a:ext cx="2020824" cy="8686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Calibri"/>
              </a:rPr>
              <a:t>Shared DEM; pairs with temporal baseline ≤ 730 d and perpendicular baseline ≤ 1,500 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02167" y="2414016"/>
            <a:ext cx="2020824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750" b="0" i="1">
                <a:solidFill>
                  <a:srgbClr val="117A65"/>
                </a:solidFill>
                <a:latin typeface="Calibri"/>
              </a:rPr>
              <a:t>gate G17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433303" y="960120"/>
            <a:ext cx="1399031" cy="1700784"/>
          </a:xfrm>
          <a:prstGeom prst="roundRect">
            <a:avLst>
              <a:gd name="adj" fmla="val 8000"/>
            </a:avLst>
          </a:prstGeom>
          <a:solidFill>
            <a:srgbClr val="F4FBF6"/>
          </a:solidFill>
          <a:ln w="15875">
            <a:solidFill>
              <a:srgbClr val="1E84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4" name="Connector 33"/>
          <p:cNvCxnSpPr/>
          <p:nvPr/>
        </p:nvCxnSpPr>
        <p:spPr>
          <a:xfrm>
            <a:off x="10286999" y="1810512"/>
            <a:ext cx="137160" cy="0"/>
          </a:xfrm>
          <a:prstGeom prst="line">
            <a:avLst/>
          </a:prstGeom>
          <a:ln w="19050">
            <a:solidFill>
              <a:srgbClr val="1E844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10497311" y="1024128"/>
            <a:ext cx="502920" cy="173736"/>
          </a:xfrm>
          <a:prstGeom prst="roundRect">
            <a:avLst>
              <a:gd name="adj" fmla="val 25000"/>
            </a:avLst>
          </a:prstGeom>
          <a:solidFill>
            <a:srgbClr val="1E8449"/>
          </a:solidFill>
          <a:ln w="15875">
            <a:solidFill>
              <a:srgbClr val="1E84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Calibri"/>
              </a:rPr>
              <a:t>OUTPUT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88167" y="1252728"/>
            <a:ext cx="1307591" cy="5029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1" i="0">
                <a:solidFill>
                  <a:srgbClr val="1E8449"/>
                </a:solidFill>
                <a:latin typeface="Calibri"/>
              </a:rPr>
              <a:t>DEM + interferogram network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88167" y="1783080"/>
            <a:ext cx="1307591" cy="8686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Calibri"/>
              </a:rPr>
              <a:t>Pair list and run files (123–180 pairs formed per frame)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20040" y="2816352"/>
            <a:ext cx="2148840" cy="1700784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 w="15875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9" name="Picture 38" descr="icon_lay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2889504"/>
            <a:ext cx="502920" cy="50292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923544" y="2871216"/>
            <a:ext cx="150876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1" i="0">
                <a:solidFill>
                  <a:srgbClr val="1B4F72"/>
                </a:solidFill>
                <a:latin typeface="Calibri"/>
              </a:rPr>
              <a:t>Phase 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3544" y="3063240"/>
            <a:ext cx="1508760" cy="38404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050" b="1" i="0">
                <a:solidFill>
                  <a:srgbClr val="1B4F72"/>
                </a:solidFill>
                <a:latin typeface="Calibri"/>
              </a:rPr>
              <a:t>Coregistration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3192" y="3474720"/>
            <a:ext cx="2020824" cy="8686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Calibri"/>
              </a:rPr>
              <a:t>Align every SLC to one FBS reference date (4.68 m range grid; FBD resampled onto it)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93192" y="4270248"/>
            <a:ext cx="2020824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750" b="0" i="1">
                <a:solidFill>
                  <a:srgbClr val="117A65"/>
                </a:solidFill>
                <a:latin typeface="Calibri"/>
              </a:rPr>
              <a:t>gates G7–G9, G16, G21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624328" y="2816352"/>
            <a:ext cx="1399031" cy="1700784"/>
          </a:xfrm>
          <a:prstGeom prst="roundRect">
            <a:avLst>
              <a:gd name="adj" fmla="val 8000"/>
            </a:avLst>
          </a:prstGeom>
          <a:solidFill>
            <a:srgbClr val="F4FBF6"/>
          </a:solidFill>
          <a:ln w="15875">
            <a:solidFill>
              <a:srgbClr val="1E84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5" name="Connector 44"/>
          <p:cNvCxnSpPr/>
          <p:nvPr/>
        </p:nvCxnSpPr>
        <p:spPr>
          <a:xfrm>
            <a:off x="2478024" y="3666744"/>
            <a:ext cx="137160" cy="0"/>
          </a:xfrm>
          <a:prstGeom prst="line">
            <a:avLst/>
          </a:prstGeom>
          <a:ln w="19050">
            <a:solidFill>
              <a:srgbClr val="1E844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2688336" y="2880360"/>
            <a:ext cx="502920" cy="173736"/>
          </a:xfrm>
          <a:prstGeom prst="roundRect">
            <a:avLst>
              <a:gd name="adj" fmla="val 25000"/>
            </a:avLst>
          </a:prstGeom>
          <a:solidFill>
            <a:srgbClr val="1E8449"/>
          </a:solidFill>
          <a:ln w="15875">
            <a:solidFill>
              <a:srgbClr val="1E84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Calibri"/>
              </a:rPr>
              <a:t>OUTPUT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679192" y="3108960"/>
            <a:ext cx="1307591" cy="5029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1" i="0">
                <a:solidFill>
                  <a:srgbClr val="1E8449"/>
                </a:solidFill>
                <a:latin typeface="Calibri"/>
              </a:rPr>
              <a:t>Coregistered SLC stack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679192" y="3639312"/>
            <a:ext cx="1307591" cy="8686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Calibri"/>
              </a:rPr>
              <a:t>All acquisitions on the reference geometry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224527" y="2816352"/>
            <a:ext cx="2148840" cy="1700784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 w="15875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0" name="Picture 49" descr="icon_frin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8536" y="2889504"/>
            <a:ext cx="502920" cy="50292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4828031" y="2871216"/>
            <a:ext cx="150876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1" i="0">
                <a:solidFill>
                  <a:srgbClr val="1B4F72"/>
                </a:solidFill>
                <a:latin typeface="Calibri"/>
              </a:rPr>
              <a:t>Phase 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828031" y="3063240"/>
            <a:ext cx="1508760" cy="38404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050" b="1" i="0">
                <a:solidFill>
                  <a:srgbClr val="1B4F72"/>
                </a:solidFill>
                <a:latin typeface="Calibri"/>
              </a:rPr>
              <a:t>Interferogram generation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297679" y="3474720"/>
            <a:ext cx="2020824" cy="8686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Calibri"/>
              </a:rPr>
              <a:t>Form interferograms; multilook 28 × 12 (~90 m × 90 m); filter; unwrap with SNAPHU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97679" y="4270248"/>
            <a:ext cx="2020824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750" b="0" i="1">
                <a:solidFill>
                  <a:srgbClr val="117A65"/>
                </a:solidFill>
                <a:latin typeface="Calibri"/>
              </a:rPr>
              <a:t>gates G10, G11, G18, G20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528815" y="2816352"/>
            <a:ext cx="1399031" cy="1700784"/>
          </a:xfrm>
          <a:prstGeom prst="roundRect">
            <a:avLst>
              <a:gd name="adj" fmla="val 8000"/>
            </a:avLst>
          </a:prstGeom>
          <a:solidFill>
            <a:srgbClr val="F4FBF6"/>
          </a:solidFill>
          <a:ln w="15875">
            <a:solidFill>
              <a:srgbClr val="1E84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56" name="Connector 55"/>
          <p:cNvCxnSpPr/>
          <p:nvPr/>
        </p:nvCxnSpPr>
        <p:spPr>
          <a:xfrm>
            <a:off x="6382511" y="3666744"/>
            <a:ext cx="137160" cy="0"/>
          </a:xfrm>
          <a:prstGeom prst="line">
            <a:avLst/>
          </a:prstGeom>
          <a:ln w="19050">
            <a:solidFill>
              <a:srgbClr val="1E844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6592823" y="2880360"/>
            <a:ext cx="502920" cy="173736"/>
          </a:xfrm>
          <a:prstGeom prst="roundRect">
            <a:avLst>
              <a:gd name="adj" fmla="val 25000"/>
            </a:avLst>
          </a:prstGeom>
          <a:solidFill>
            <a:srgbClr val="1E8449"/>
          </a:solidFill>
          <a:ln w="15875">
            <a:solidFill>
              <a:srgbClr val="1E84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Calibri"/>
              </a:rPr>
              <a:t>OUTPUT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79" y="3108960"/>
            <a:ext cx="1307591" cy="5029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1" i="0">
                <a:solidFill>
                  <a:srgbClr val="1E8449"/>
                </a:solidFill>
                <a:latin typeface="Calibri"/>
              </a:rPr>
              <a:t>Unwrapped interferograms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79" y="3639312"/>
            <a:ext cx="1307591" cy="8686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Calibri"/>
              </a:rPr>
              <a:t>Interferograms and coherence for every admitted pair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129015" y="2816352"/>
            <a:ext cx="2148840" cy="1700784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 w="15875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1" name="Picture 60" descr="icon_gri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3023" y="2889504"/>
            <a:ext cx="502920" cy="502920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8732519" y="2871216"/>
            <a:ext cx="150876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1" i="0">
                <a:solidFill>
                  <a:srgbClr val="1B4F72"/>
                </a:solidFill>
                <a:latin typeface="Calibri"/>
              </a:rPr>
              <a:t>Phase 4.5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732519" y="3063240"/>
            <a:ext cx="1508760" cy="38404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050" b="1" i="0">
                <a:solidFill>
                  <a:srgbClr val="1B4F72"/>
                </a:solidFill>
                <a:latin typeface="Calibri"/>
              </a:rPr>
              <a:t>Visual quality control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202167" y="3474720"/>
            <a:ext cx="2020824" cy="8686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Calibri"/>
              </a:rPr>
              <a:t>Phase and amplitude report pages for every interferogram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202167" y="4270248"/>
            <a:ext cx="2020824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750" b="0" i="1">
                <a:solidFill>
                  <a:srgbClr val="117A65"/>
                </a:solidFill>
                <a:latin typeface="Calibri"/>
              </a:rPr>
              <a:t>visual check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0433303" y="2816352"/>
            <a:ext cx="1399031" cy="1700784"/>
          </a:xfrm>
          <a:prstGeom prst="roundRect">
            <a:avLst>
              <a:gd name="adj" fmla="val 8000"/>
            </a:avLst>
          </a:prstGeom>
          <a:solidFill>
            <a:srgbClr val="F4FBF6"/>
          </a:solidFill>
          <a:ln w="15875">
            <a:solidFill>
              <a:srgbClr val="1E84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7" name="Connector 66"/>
          <p:cNvCxnSpPr/>
          <p:nvPr/>
        </p:nvCxnSpPr>
        <p:spPr>
          <a:xfrm>
            <a:off x="10286999" y="3666744"/>
            <a:ext cx="137160" cy="0"/>
          </a:xfrm>
          <a:prstGeom prst="line">
            <a:avLst/>
          </a:prstGeom>
          <a:ln w="19050">
            <a:solidFill>
              <a:srgbClr val="1E844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ounded Rectangle 67"/>
          <p:cNvSpPr/>
          <p:nvPr/>
        </p:nvSpPr>
        <p:spPr>
          <a:xfrm>
            <a:off x="10497311" y="2880360"/>
            <a:ext cx="502920" cy="173736"/>
          </a:xfrm>
          <a:prstGeom prst="roundRect">
            <a:avLst>
              <a:gd name="adj" fmla="val 25000"/>
            </a:avLst>
          </a:prstGeom>
          <a:solidFill>
            <a:srgbClr val="1E8449"/>
          </a:solidFill>
          <a:ln w="15875">
            <a:solidFill>
              <a:srgbClr val="1E84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Calibri"/>
              </a:rPr>
              <a:t>OUTPUT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488167" y="3108960"/>
            <a:ext cx="1307591" cy="5029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1" i="0">
                <a:solidFill>
                  <a:srgbClr val="1E8449"/>
                </a:solidFill>
                <a:latin typeface="Calibri"/>
              </a:rPr>
              <a:t>Interferogram report grids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488167" y="3639312"/>
            <a:ext cx="1307591" cy="8686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Calibri"/>
              </a:rPr>
              <a:t>Poor pairs flagged and excluded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20040" y="4672584"/>
            <a:ext cx="2148840" cy="1700784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 w="15875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2" name="Picture 71" descr="icon_char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4048" y="4745736"/>
            <a:ext cx="502920" cy="502920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923544" y="4727448"/>
            <a:ext cx="150876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1" i="0">
                <a:solidFill>
                  <a:srgbClr val="1B4F72"/>
                </a:solidFill>
                <a:latin typeface="Calibri"/>
              </a:rPr>
              <a:t>Phase 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23544" y="4919472"/>
            <a:ext cx="1508760" cy="38404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050" b="1" i="0">
                <a:solidFill>
                  <a:srgbClr val="1B4F72"/>
                </a:solidFill>
                <a:latin typeface="Calibri"/>
              </a:rPr>
              <a:t>SBAS time-series analysis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93192" y="5330952"/>
            <a:ext cx="2020824" cy="8686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Calibri"/>
              </a:rPr>
              <a:t>MintPy inversion; DEM-error correction; ramp removal; coherence and water masks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93192" y="6126480"/>
            <a:ext cx="2020824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750" b="0" i="1">
                <a:solidFill>
                  <a:srgbClr val="117A65"/>
                </a:solidFill>
                <a:latin typeface="Calibri"/>
              </a:rPr>
              <a:t>gates G12, G13, G15, G19, G22, G23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2624328" y="4672584"/>
            <a:ext cx="1399031" cy="1700784"/>
          </a:xfrm>
          <a:prstGeom prst="roundRect">
            <a:avLst>
              <a:gd name="adj" fmla="val 8000"/>
            </a:avLst>
          </a:prstGeom>
          <a:solidFill>
            <a:srgbClr val="F4FBF6"/>
          </a:solidFill>
          <a:ln w="15875">
            <a:solidFill>
              <a:srgbClr val="1E84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78" name="Connector 77"/>
          <p:cNvCxnSpPr/>
          <p:nvPr/>
        </p:nvCxnSpPr>
        <p:spPr>
          <a:xfrm>
            <a:off x="2478024" y="5522976"/>
            <a:ext cx="137160" cy="0"/>
          </a:xfrm>
          <a:prstGeom prst="line">
            <a:avLst/>
          </a:prstGeom>
          <a:ln w="19050">
            <a:solidFill>
              <a:srgbClr val="1E844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Rounded Rectangle 78"/>
          <p:cNvSpPr/>
          <p:nvPr/>
        </p:nvSpPr>
        <p:spPr>
          <a:xfrm>
            <a:off x="2688336" y="4736592"/>
            <a:ext cx="502920" cy="173736"/>
          </a:xfrm>
          <a:prstGeom prst="roundRect">
            <a:avLst>
              <a:gd name="adj" fmla="val 25000"/>
            </a:avLst>
          </a:prstGeom>
          <a:solidFill>
            <a:srgbClr val="1E8449"/>
          </a:solidFill>
          <a:ln w="15875">
            <a:solidFill>
              <a:srgbClr val="1E84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Calibri"/>
              </a:rPr>
              <a:t>OUTPUT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679192" y="4965192"/>
            <a:ext cx="1307591" cy="5029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1" i="0">
                <a:solidFill>
                  <a:srgbClr val="1E8449"/>
                </a:solidFill>
                <a:latin typeface="Calibri"/>
              </a:rPr>
              <a:t>Displacement time series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679192" y="5495544"/>
            <a:ext cx="1307591" cy="8686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Calibri"/>
              </a:rPr>
              <a:t>LOS velocity, displacement per date, temporal coherence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4224527" y="4672584"/>
            <a:ext cx="2148840" cy="1700784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 w="15875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3" name="Picture 82" descr="icon_map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88536" y="4745736"/>
            <a:ext cx="502920" cy="502920"/>
          </a:xfrm>
          <a:prstGeom prst="rect">
            <a:avLst/>
          </a:prstGeom>
        </p:spPr>
      </p:pic>
      <p:sp>
        <p:nvSpPr>
          <p:cNvPr id="84" name="TextBox 83"/>
          <p:cNvSpPr txBox="1"/>
          <p:nvPr/>
        </p:nvSpPr>
        <p:spPr>
          <a:xfrm>
            <a:off x="4828031" y="4727448"/>
            <a:ext cx="150876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1" i="0">
                <a:solidFill>
                  <a:srgbClr val="1B4F72"/>
                </a:solidFill>
                <a:latin typeface="Calibri"/>
              </a:rPr>
              <a:t>Phase 6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828031" y="4919472"/>
            <a:ext cx="1508760" cy="38404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050" b="1" i="0">
                <a:solidFill>
                  <a:srgbClr val="1B4F72"/>
                </a:solidFill>
                <a:latin typeface="Calibri"/>
              </a:rPr>
              <a:t>Geocoding and delivery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297679" y="5330952"/>
            <a:ext cx="2020824" cy="8686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Calibri"/>
              </a:rPr>
              <a:t>Geocode to a common 1/1200° (~90 m) grid; 16 products per frame; 27-check verification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297679" y="6126480"/>
            <a:ext cx="2020824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750" b="0" i="1">
                <a:solidFill>
                  <a:srgbClr val="117A65"/>
                </a:solidFill>
                <a:latin typeface="Calibri"/>
              </a:rPr>
              <a:t>gate G14; 27 checks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6528815" y="4672584"/>
            <a:ext cx="1399031" cy="1700784"/>
          </a:xfrm>
          <a:prstGeom prst="roundRect">
            <a:avLst>
              <a:gd name="adj" fmla="val 8000"/>
            </a:avLst>
          </a:prstGeom>
          <a:solidFill>
            <a:srgbClr val="F4FBF6"/>
          </a:solidFill>
          <a:ln w="15875">
            <a:solidFill>
              <a:srgbClr val="1E84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89" name="Connector 88"/>
          <p:cNvCxnSpPr/>
          <p:nvPr/>
        </p:nvCxnSpPr>
        <p:spPr>
          <a:xfrm>
            <a:off x="6382511" y="5522976"/>
            <a:ext cx="137160" cy="0"/>
          </a:xfrm>
          <a:prstGeom prst="line">
            <a:avLst/>
          </a:prstGeom>
          <a:ln w="19050">
            <a:solidFill>
              <a:srgbClr val="1E844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ounded Rectangle 89"/>
          <p:cNvSpPr/>
          <p:nvPr/>
        </p:nvSpPr>
        <p:spPr>
          <a:xfrm>
            <a:off x="6592823" y="4736592"/>
            <a:ext cx="502920" cy="173736"/>
          </a:xfrm>
          <a:prstGeom prst="roundRect">
            <a:avLst>
              <a:gd name="adj" fmla="val 25000"/>
            </a:avLst>
          </a:prstGeom>
          <a:solidFill>
            <a:srgbClr val="1E8449"/>
          </a:solidFill>
          <a:ln w="15875">
            <a:solidFill>
              <a:srgbClr val="1E84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Calibri"/>
              </a:rPr>
              <a:t>OUTPUT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583679" y="4965192"/>
            <a:ext cx="1307591" cy="5029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1" i="0">
                <a:solidFill>
                  <a:srgbClr val="1E8449"/>
                </a:solidFill>
                <a:latin typeface="Calibri"/>
              </a:rPr>
              <a:t>16 geocoded products per frame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583679" y="5495544"/>
            <a:ext cx="1307591" cy="8686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Calibri"/>
              </a:rPr>
              <a:t>LOS, vertical, horizontal GeoTIFFs; KMZ; hillshade maps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8129015" y="4672584"/>
            <a:ext cx="2148840" cy="1700784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 w="15875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4" name="Picture 93" descr="icon_len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93023" y="4745736"/>
            <a:ext cx="502920" cy="502920"/>
          </a:xfrm>
          <a:prstGeom prst="rect">
            <a:avLst/>
          </a:prstGeom>
        </p:spPr>
      </p:pic>
      <p:sp>
        <p:nvSpPr>
          <p:cNvPr id="95" name="TextBox 94"/>
          <p:cNvSpPr txBox="1"/>
          <p:nvPr/>
        </p:nvSpPr>
        <p:spPr>
          <a:xfrm>
            <a:off x="8732519" y="4727448"/>
            <a:ext cx="150876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1" i="0">
                <a:solidFill>
                  <a:srgbClr val="1B4F72"/>
                </a:solidFill>
                <a:latin typeface="Calibri"/>
              </a:rPr>
              <a:t>Phase 7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732519" y="4919472"/>
            <a:ext cx="1508760" cy="38404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050" b="1" i="0">
                <a:solidFill>
                  <a:srgbClr val="1B4F72"/>
                </a:solidFill>
                <a:latin typeface="Calibri"/>
              </a:rPr>
              <a:t>Interpretation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202167" y="5330952"/>
            <a:ext cx="2020824" cy="8686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Calibri"/>
              </a:rPr>
              <a:t>Read the velocity maps; measure subsidence against nearby stable ground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202167" y="6126480"/>
            <a:ext cx="2020824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750" b="0" i="1">
                <a:solidFill>
                  <a:srgbClr val="117A65"/>
                </a:solidFill>
                <a:latin typeface="Calibri"/>
              </a:rPr>
              <a:t>two-track check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10433303" y="4672584"/>
            <a:ext cx="1399031" cy="1700784"/>
          </a:xfrm>
          <a:prstGeom prst="roundRect">
            <a:avLst>
              <a:gd name="adj" fmla="val 8000"/>
            </a:avLst>
          </a:prstGeom>
          <a:solidFill>
            <a:srgbClr val="F4FBF6"/>
          </a:solidFill>
          <a:ln w="15875">
            <a:solidFill>
              <a:srgbClr val="1E84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00" name="Connector 99"/>
          <p:cNvCxnSpPr/>
          <p:nvPr/>
        </p:nvCxnSpPr>
        <p:spPr>
          <a:xfrm>
            <a:off x="10286999" y="5522976"/>
            <a:ext cx="137160" cy="0"/>
          </a:xfrm>
          <a:prstGeom prst="line">
            <a:avLst/>
          </a:prstGeom>
          <a:ln w="19050">
            <a:solidFill>
              <a:srgbClr val="1E844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Rounded Rectangle 100"/>
          <p:cNvSpPr/>
          <p:nvPr/>
        </p:nvSpPr>
        <p:spPr>
          <a:xfrm>
            <a:off x="10497311" y="4736592"/>
            <a:ext cx="502920" cy="173736"/>
          </a:xfrm>
          <a:prstGeom prst="roundRect">
            <a:avLst>
              <a:gd name="adj" fmla="val 25000"/>
            </a:avLst>
          </a:prstGeom>
          <a:solidFill>
            <a:srgbClr val="1E8449"/>
          </a:solidFill>
          <a:ln w="15875">
            <a:solidFill>
              <a:srgbClr val="1E84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Calibri"/>
              </a:rPr>
              <a:t>OUTPUT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488167" y="4965192"/>
            <a:ext cx="1307591" cy="5029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1" i="0">
                <a:solidFill>
                  <a:srgbClr val="1E8449"/>
                </a:solidFill>
                <a:latin typeface="Calibri"/>
              </a:rPr>
              <a:t>Ground-deformation results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488167" y="5495544"/>
            <a:ext cx="1307591" cy="8686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Calibri"/>
              </a:rPr>
              <a:t>e.g. Cabanatuan 4.4–4.7 cm/yr vertical, two tracks</a:t>
            </a:r>
          </a:p>
        </p:txBody>
      </p:sp>
      <p:cxnSp>
        <p:nvCxnSpPr>
          <p:cNvPr id="104" name="Connector 103"/>
          <p:cNvCxnSpPr/>
          <p:nvPr/>
        </p:nvCxnSpPr>
        <p:spPr>
          <a:xfrm>
            <a:off x="4032503" y="1810512"/>
            <a:ext cx="182880" cy="0"/>
          </a:xfrm>
          <a:prstGeom prst="line">
            <a:avLst/>
          </a:prstGeom>
          <a:ln w="25400">
            <a:solidFill>
              <a:srgbClr val="1B4F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7936991" y="1810512"/>
            <a:ext cx="182880" cy="0"/>
          </a:xfrm>
          <a:prstGeom prst="line">
            <a:avLst/>
          </a:prstGeom>
          <a:ln w="25400">
            <a:solidFill>
              <a:srgbClr val="1B4F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Freeform 105"/>
          <p:cNvSpPr/>
          <p:nvPr/>
        </p:nvSpPr>
        <p:spPr>
          <a:xfrm>
            <a:off x="2171700" y="2660904"/>
            <a:ext cx="7808976" cy="155448"/>
          </a:xfrm>
          <a:custGeom>
            <a:avLst/>
            <a:gdLst/>
            <a:ahLst/>
            <a:cxnLst/>
            <a:rect l="l" t="t" r="r" b="b"/>
            <a:pathLst>
              <a:path w="7808976" h="155448">
                <a:moveTo>
                  <a:pt x="7808976" y="0"/>
                </a:moveTo>
                <a:lnTo>
                  <a:pt x="7808976" y="77724"/>
                </a:lnTo>
                <a:lnTo>
                  <a:pt x="0" y="77724"/>
                </a:lnTo>
                <a:lnTo>
                  <a:pt x="0" y="155448"/>
                </a:lnTo>
              </a:path>
            </a:pathLst>
          </a:custGeom>
          <a:noFill/>
          <a:ln w="19050">
            <a:solidFill>
              <a:srgbClr val="1B4F72"/>
            </a:solidFill>
            <a:tailEnd type="triangl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7" name="Connector 106"/>
          <p:cNvCxnSpPr/>
          <p:nvPr/>
        </p:nvCxnSpPr>
        <p:spPr>
          <a:xfrm>
            <a:off x="4032503" y="3666744"/>
            <a:ext cx="182880" cy="0"/>
          </a:xfrm>
          <a:prstGeom prst="line">
            <a:avLst/>
          </a:prstGeom>
          <a:ln w="25400">
            <a:solidFill>
              <a:srgbClr val="1B4F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7936991" y="3666744"/>
            <a:ext cx="182880" cy="0"/>
          </a:xfrm>
          <a:prstGeom prst="line">
            <a:avLst/>
          </a:prstGeom>
          <a:ln w="25400">
            <a:solidFill>
              <a:srgbClr val="1B4F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Freeform 108"/>
          <p:cNvSpPr/>
          <p:nvPr/>
        </p:nvSpPr>
        <p:spPr>
          <a:xfrm>
            <a:off x="2171700" y="4517136"/>
            <a:ext cx="7808976" cy="155448"/>
          </a:xfrm>
          <a:custGeom>
            <a:avLst/>
            <a:gdLst/>
            <a:ahLst/>
            <a:cxnLst/>
            <a:rect l="l" t="t" r="r" b="b"/>
            <a:pathLst>
              <a:path w="7808976" h="155448">
                <a:moveTo>
                  <a:pt x="7808976" y="0"/>
                </a:moveTo>
                <a:lnTo>
                  <a:pt x="7808976" y="77724"/>
                </a:lnTo>
                <a:lnTo>
                  <a:pt x="0" y="77724"/>
                </a:lnTo>
                <a:lnTo>
                  <a:pt x="0" y="155448"/>
                </a:lnTo>
              </a:path>
            </a:pathLst>
          </a:custGeom>
          <a:noFill/>
          <a:ln w="19050">
            <a:solidFill>
              <a:srgbClr val="1B4F72"/>
            </a:solidFill>
            <a:tailEnd type="triangl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0" name="Connector 109"/>
          <p:cNvCxnSpPr/>
          <p:nvPr/>
        </p:nvCxnSpPr>
        <p:spPr>
          <a:xfrm>
            <a:off x="4032503" y="5522976"/>
            <a:ext cx="182880" cy="0"/>
          </a:xfrm>
          <a:prstGeom prst="line">
            <a:avLst/>
          </a:prstGeom>
          <a:ln w="25400">
            <a:solidFill>
              <a:srgbClr val="1B4F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7936991" y="5522976"/>
            <a:ext cx="182880" cy="0"/>
          </a:xfrm>
          <a:prstGeom prst="line">
            <a:avLst/>
          </a:prstGeom>
          <a:ln w="25400">
            <a:solidFill>
              <a:srgbClr val="1B4F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Rounded Rectangle 111"/>
          <p:cNvSpPr/>
          <p:nvPr/>
        </p:nvSpPr>
        <p:spPr>
          <a:xfrm>
            <a:off x="365760" y="6492240"/>
            <a:ext cx="274320" cy="146304"/>
          </a:xfrm>
          <a:prstGeom prst="roundRect">
            <a:avLst>
              <a:gd name="adj" fmla="val 8000"/>
            </a:avLst>
          </a:prstGeom>
          <a:solidFill>
            <a:srgbClr val="FDF2E9"/>
          </a:solidFill>
          <a:ln w="15875">
            <a:solidFill>
              <a:srgbClr val="CA6F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3" name="TextBox 112"/>
          <p:cNvSpPr txBox="1"/>
          <p:nvPr/>
        </p:nvSpPr>
        <p:spPr>
          <a:xfrm>
            <a:off x="685800" y="6464807"/>
            <a:ext cx="201168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new for FBS+FBD processing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2743200" y="6492240"/>
            <a:ext cx="274320" cy="146304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 w="15875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5" name="TextBox 114"/>
          <p:cNvSpPr txBox="1"/>
          <p:nvPr/>
        </p:nvSpPr>
        <p:spPr>
          <a:xfrm>
            <a:off x="3063240" y="6464807"/>
            <a:ext cx="201168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carried over from FBS-only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5120640" y="6492240"/>
            <a:ext cx="274320" cy="146304"/>
          </a:xfrm>
          <a:prstGeom prst="roundRect">
            <a:avLst>
              <a:gd name="adj" fmla="val 8000"/>
            </a:avLst>
          </a:prstGeom>
          <a:solidFill>
            <a:srgbClr val="F4FBF6"/>
          </a:solidFill>
          <a:ln w="15875">
            <a:solidFill>
              <a:srgbClr val="1E84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7" name="TextBox 116"/>
          <p:cNvSpPr txBox="1"/>
          <p:nvPr/>
        </p:nvSpPr>
        <p:spPr>
          <a:xfrm>
            <a:off x="5440680" y="6464807"/>
            <a:ext cx="201168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output of the phase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589520" y="6464807"/>
            <a:ext cx="438912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00" b="0" i="1">
                <a:solidFill>
                  <a:srgbClr val="117A65"/>
                </a:solidFill>
                <a:latin typeface="Calibri"/>
              </a:rPr>
              <a:t>Green italic: automated quality gates (G1–G23); a failed gate stops the phase.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4114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2200" b="1" i="0">
                <a:solidFill>
                  <a:srgbClr val="1B4F72"/>
                </a:solidFill>
                <a:latin typeface="Calibri"/>
              </a:rPr>
              <a:t>LInOG FBS + FBD InSAR processing workflow: real outputs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03504"/>
            <a:ext cx="1143000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ALOS-1 PALSAR, pipeline v4.0, one frame: each phase (left) and its output (right); read left to right, row by row. Sample: Path 449 Frame 0280.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960120"/>
            <a:ext cx="2011680" cy="1700784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 w="15875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icon_g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033272"/>
            <a:ext cx="502920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23544" y="1014984"/>
            <a:ext cx="137160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1" i="0">
                <a:solidFill>
                  <a:srgbClr val="1B4F72"/>
                </a:solidFill>
                <a:latin typeface="Calibri"/>
              </a:rPr>
              <a:t>Phase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" y="1207008"/>
            <a:ext cx="1371600" cy="38404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050" b="1" i="0">
                <a:solidFill>
                  <a:srgbClr val="1B4F72"/>
                </a:solidFill>
                <a:latin typeface="Calibri"/>
              </a:rPr>
              <a:t>Set-up and pre-flight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1618488"/>
            <a:ext cx="1883664" cy="8686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Calibri"/>
              </a:rPr>
              <a:t>Install ISCE2, MintPy, GDAL, SNAPHU; check provenance; size the machine; count the archive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" y="2414016"/>
            <a:ext cx="1883664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750" b="0" i="1">
                <a:solidFill>
                  <a:srgbClr val="117A65"/>
                </a:solidFill>
                <a:latin typeface="Calibri"/>
              </a:rPr>
              <a:t>provenance check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87168" y="960120"/>
            <a:ext cx="1536191" cy="1700784"/>
          </a:xfrm>
          <a:prstGeom prst="roundRect">
            <a:avLst>
              <a:gd name="adj" fmla="val 8000"/>
            </a:avLst>
          </a:prstGeom>
          <a:solidFill>
            <a:srgbClr val="F4FBF6"/>
          </a:solidFill>
          <a:ln w="15875">
            <a:solidFill>
              <a:srgbClr val="1E84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1" name="Connector 10"/>
          <p:cNvCxnSpPr/>
          <p:nvPr/>
        </p:nvCxnSpPr>
        <p:spPr>
          <a:xfrm>
            <a:off x="2340864" y="1810512"/>
            <a:ext cx="137160" cy="0"/>
          </a:xfrm>
          <a:prstGeom prst="line">
            <a:avLst/>
          </a:prstGeom>
          <a:ln w="19050">
            <a:solidFill>
              <a:srgbClr val="1E844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551176" y="1024128"/>
            <a:ext cx="502920" cy="173736"/>
          </a:xfrm>
          <a:prstGeom prst="roundRect">
            <a:avLst>
              <a:gd name="adj" fmla="val 25000"/>
            </a:avLst>
          </a:prstGeom>
          <a:solidFill>
            <a:srgbClr val="1E8449"/>
          </a:solidFill>
          <a:ln w="15875">
            <a:solidFill>
              <a:srgbClr val="1E84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Calibri"/>
              </a:rPr>
              <a:t>OUTPUT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42032" y="1234440"/>
            <a:ext cx="1426463" cy="1024128"/>
          </a:xfrm>
          <a:prstGeom prst="rect">
            <a:avLst/>
          </a:prstGeom>
          <a:solidFill>
            <a:srgbClr val="1E1E1E"/>
          </a:solidFill>
          <a:ln w="9525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560320" y="1252728"/>
            <a:ext cx="1389887" cy="98755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600" b="0" i="0">
                <a:solidFill>
                  <a:srgbClr val="EAEAEA"/>
                </a:solidFill>
                <a:latin typeface="Consolas"/>
              </a:rPr>
              <a:t># pre-flight record (felix, 17 Sep 2026)</a:t>
            </a:r>
          </a:p>
          <a:p>
            <a:pPr algn="l"/>
            <a:r>
              <a:rPr sz="600" b="0" i="0">
                <a:solidFill>
                  <a:srgbClr val="EAEAEA"/>
                </a:solidFill>
                <a:latin typeface="Consolas"/>
              </a:rPr>
              <a:t>provenance ... OK</a:t>
            </a:r>
          </a:p>
          <a:p>
            <a:pPr algn="l"/>
            <a:r>
              <a:rPr sz="600" b="0" i="0">
                <a:solidFill>
                  <a:srgbClr val="EAEAEA"/>
                </a:solidFill>
                <a:latin typeface="Consolas"/>
              </a:rPr>
              <a:t>ISCE2 · MintPy · GDAL · SNAPHU OK</a:t>
            </a:r>
          </a:p>
          <a:p>
            <a:pPr algn="l"/>
            <a:r>
              <a:rPr sz="600" b="0" i="0">
                <a:solidFill>
                  <a:srgbClr val="EAEAEA"/>
                </a:solidFill>
                <a:latin typeface="Consolas"/>
              </a:rPr>
              <a:t>48 cores, 125 GB RAM</a:t>
            </a:r>
          </a:p>
          <a:p>
            <a:pPr algn="l"/>
            <a:r>
              <a:rPr sz="600" b="0" i="0">
                <a:solidFill>
                  <a:srgbClr val="EAEAEA"/>
                </a:solidFill>
                <a:latin typeface="Consolas"/>
              </a:rPr>
              <a:t>779 ALOS-1 L1.1 zips</a:t>
            </a:r>
          </a:p>
          <a:p>
            <a:pPr algn="l"/>
            <a:r>
              <a:rPr sz="600" b="0" i="0">
                <a:solidFill>
                  <a:srgbClr val="7DCEA0"/>
                </a:solidFill>
                <a:latin typeface="Consolas"/>
              </a:rPr>
              <a:t>RESULT: PASS 14/14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23744" y="2286000"/>
            <a:ext cx="1463039" cy="43891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700" b="0" i="0">
                <a:solidFill>
                  <a:srgbClr val="222222"/>
                </a:solidFill>
                <a:latin typeface="Calibri"/>
              </a:rPr>
              <a:t>Summary of the pre-flight record: all 14 checks pass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24527" y="960120"/>
            <a:ext cx="2011680" cy="1700784"/>
          </a:xfrm>
          <a:prstGeom prst="roundRect">
            <a:avLst>
              <a:gd name="adj" fmla="val 8000"/>
            </a:avLst>
          </a:prstGeom>
          <a:solidFill>
            <a:srgbClr val="FDF2E9"/>
          </a:solidFill>
          <a:ln w="25400">
            <a:solidFill>
              <a:srgbClr val="CA6F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icon_mer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8536" y="1033272"/>
            <a:ext cx="502920" cy="5029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828031" y="1014984"/>
            <a:ext cx="137160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1" i="0">
                <a:solidFill>
                  <a:srgbClr val="CA6F1E"/>
                </a:solidFill>
                <a:latin typeface="Calibri"/>
              </a:rPr>
              <a:t>Phase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28031" y="1207008"/>
            <a:ext cx="1371600" cy="38404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050" b="1" i="0">
                <a:solidFill>
                  <a:srgbClr val="1B4F72"/>
                </a:solidFill>
                <a:latin typeface="Calibri"/>
              </a:rPr>
              <a:t>Unpack and unify FBS + FBD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79" y="1618488"/>
            <a:ext cx="1883664" cy="8686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Calibri"/>
              </a:rPr>
              <a:t>Unzip L1.1 granules; beam check; sort FBS / FBD; band-limit FBS to 14 MHz at native 4.68 m range sampling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79" y="2414016"/>
            <a:ext cx="1883664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750" b="0" i="1">
                <a:solidFill>
                  <a:srgbClr val="117A65"/>
                </a:solidFill>
                <a:latin typeface="Calibri"/>
              </a:rPr>
              <a:t>gates G1–G6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94959" y="2231136"/>
            <a:ext cx="786384" cy="173736"/>
          </a:xfrm>
          <a:prstGeom prst="roundRect">
            <a:avLst>
              <a:gd name="adj" fmla="val 25000"/>
            </a:avLst>
          </a:prstGeom>
          <a:solidFill>
            <a:srgbClr val="CA6F1E"/>
          </a:solidFill>
          <a:ln w="15875">
            <a:solidFill>
              <a:srgbClr val="CA6F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Calibri"/>
              </a:rPr>
              <a:t>NEW IN YEAR 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91655" y="960120"/>
            <a:ext cx="1536191" cy="1700784"/>
          </a:xfrm>
          <a:prstGeom prst="roundRect">
            <a:avLst>
              <a:gd name="adj" fmla="val 8000"/>
            </a:avLst>
          </a:prstGeom>
          <a:solidFill>
            <a:srgbClr val="F4FBF6"/>
          </a:solidFill>
          <a:ln w="15875">
            <a:solidFill>
              <a:srgbClr val="1E84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4" name="Connector 23"/>
          <p:cNvCxnSpPr/>
          <p:nvPr/>
        </p:nvCxnSpPr>
        <p:spPr>
          <a:xfrm>
            <a:off x="6245351" y="1810512"/>
            <a:ext cx="137161" cy="0"/>
          </a:xfrm>
          <a:prstGeom prst="line">
            <a:avLst/>
          </a:prstGeom>
          <a:ln w="19050">
            <a:solidFill>
              <a:srgbClr val="1E844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455664" y="1024128"/>
            <a:ext cx="502920" cy="173736"/>
          </a:xfrm>
          <a:prstGeom prst="roundRect">
            <a:avLst>
              <a:gd name="adj" fmla="val 25000"/>
            </a:avLst>
          </a:prstGeom>
          <a:solidFill>
            <a:srgbClr val="1E8449"/>
          </a:solidFill>
          <a:ln w="15875">
            <a:solidFill>
              <a:srgbClr val="1E84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Calibri"/>
              </a:rPr>
              <a:t>OUTPUT</a:t>
            </a:r>
          </a:p>
        </p:txBody>
      </p:sp>
      <p:pic>
        <p:nvPicPr>
          <p:cNvPr id="26" name="Picture 25" descr="thumb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19" y="1427134"/>
            <a:ext cx="1426463" cy="63873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428231" y="2286000"/>
            <a:ext cx="1463039" cy="43891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700" b="0" i="0">
                <a:solidFill>
                  <a:srgbClr val="222222"/>
                </a:solidFill>
                <a:latin typeface="Calibri"/>
              </a:rPr>
              <a:t>Range spectra: FBS before / after band-limiting match FBD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29015" y="960120"/>
            <a:ext cx="2011680" cy="1700784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 w="15875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9" name="Picture 28" descr="icon_mounta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3023" y="1033272"/>
            <a:ext cx="502920" cy="50292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732519" y="1014984"/>
            <a:ext cx="137160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1" i="0">
                <a:solidFill>
                  <a:srgbClr val="1B4F72"/>
                </a:solidFill>
                <a:latin typeface="Calibri"/>
              </a:rPr>
              <a:t>Phase 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32519" y="1207008"/>
            <a:ext cx="1371600" cy="38404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050" b="1" i="0">
                <a:solidFill>
                  <a:srgbClr val="1B4F72"/>
                </a:solidFill>
                <a:latin typeface="Calibri"/>
              </a:rPr>
              <a:t>DEM and network design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02167" y="1618488"/>
            <a:ext cx="1883664" cy="8686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Calibri"/>
              </a:rPr>
              <a:t>Shared DEM; pairs with temporal baseline ≤ 730 d and perpendicular baseline ≤ 1,500 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02167" y="2414016"/>
            <a:ext cx="1883664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750" b="0" i="1">
                <a:solidFill>
                  <a:srgbClr val="117A65"/>
                </a:solidFill>
                <a:latin typeface="Calibri"/>
              </a:rPr>
              <a:t>gate G17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296144" y="960120"/>
            <a:ext cx="1536191" cy="1700784"/>
          </a:xfrm>
          <a:prstGeom prst="roundRect">
            <a:avLst>
              <a:gd name="adj" fmla="val 8000"/>
            </a:avLst>
          </a:prstGeom>
          <a:solidFill>
            <a:srgbClr val="F4FBF6"/>
          </a:solidFill>
          <a:ln w="15875">
            <a:solidFill>
              <a:srgbClr val="1E84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5" name="Connector 34"/>
          <p:cNvCxnSpPr/>
          <p:nvPr/>
        </p:nvCxnSpPr>
        <p:spPr>
          <a:xfrm>
            <a:off x="10149840" y="1810512"/>
            <a:ext cx="137160" cy="0"/>
          </a:xfrm>
          <a:prstGeom prst="line">
            <a:avLst/>
          </a:prstGeom>
          <a:ln w="19050">
            <a:solidFill>
              <a:srgbClr val="1E844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10360152" y="1024128"/>
            <a:ext cx="502920" cy="173736"/>
          </a:xfrm>
          <a:prstGeom prst="roundRect">
            <a:avLst>
              <a:gd name="adj" fmla="val 25000"/>
            </a:avLst>
          </a:prstGeom>
          <a:solidFill>
            <a:srgbClr val="1E8449"/>
          </a:solidFill>
          <a:ln w="15875">
            <a:solidFill>
              <a:srgbClr val="1E84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Calibri"/>
              </a:rPr>
              <a:t>OUTPUT</a:t>
            </a:r>
          </a:p>
        </p:txBody>
      </p:sp>
      <p:pic>
        <p:nvPicPr>
          <p:cNvPr id="37" name="Picture 36" descr="thumb_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81488" y="1234440"/>
            <a:ext cx="1365504" cy="1024128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0332719" y="2286000"/>
            <a:ext cx="1463039" cy="43891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700" b="0" i="0">
                <a:solidFill>
                  <a:srgbClr val="222222"/>
                </a:solidFill>
                <a:latin typeface="Calibri"/>
              </a:rPr>
              <a:t>Baseline network of the pairs, 2007–2011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20040" y="2816352"/>
            <a:ext cx="2011680" cy="1700784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 w="15875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0" name="Picture 39" descr="icon_layer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048" y="2889504"/>
            <a:ext cx="502920" cy="50292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923544" y="2871216"/>
            <a:ext cx="137160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1" i="0">
                <a:solidFill>
                  <a:srgbClr val="1B4F72"/>
                </a:solidFill>
                <a:latin typeface="Calibri"/>
              </a:rPr>
              <a:t>Phase 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3544" y="3063240"/>
            <a:ext cx="1371600" cy="38404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050" b="1" i="0">
                <a:solidFill>
                  <a:srgbClr val="1B4F72"/>
                </a:solidFill>
                <a:latin typeface="Calibri"/>
              </a:rPr>
              <a:t>Coregistration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93192" y="3474720"/>
            <a:ext cx="1883664" cy="8686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Calibri"/>
              </a:rPr>
              <a:t>Align every SLC to one FBS reference date (4.68 m range grid; FBD resampled onto it)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93192" y="4270248"/>
            <a:ext cx="1883664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750" b="0" i="1">
                <a:solidFill>
                  <a:srgbClr val="117A65"/>
                </a:solidFill>
                <a:latin typeface="Calibri"/>
              </a:rPr>
              <a:t>gates G7–G9, G16, G21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487168" y="2816352"/>
            <a:ext cx="1536191" cy="1700784"/>
          </a:xfrm>
          <a:prstGeom prst="roundRect">
            <a:avLst>
              <a:gd name="adj" fmla="val 8000"/>
            </a:avLst>
          </a:prstGeom>
          <a:solidFill>
            <a:srgbClr val="F4FBF6"/>
          </a:solidFill>
          <a:ln w="15875">
            <a:solidFill>
              <a:srgbClr val="1E84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6" name="Connector 45"/>
          <p:cNvCxnSpPr/>
          <p:nvPr/>
        </p:nvCxnSpPr>
        <p:spPr>
          <a:xfrm>
            <a:off x="2340864" y="3666744"/>
            <a:ext cx="137160" cy="0"/>
          </a:xfrm>
          <a:prstGeom prst="line">
            <a:avLst/>
          </a:prstGeom>
          <a:ln w="19050">
            <a:solidFill>
              <a:srgbClr val="1E844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2551176" y="2880360"/>
            <a:ext cx="502920" cy="173736"/>
          </a:xfrm>
          <a:prstGeom prst="roundRect">
            <a:avLst>
              <a:gd name="adj" fmla="val 25000"/>
            </a:avLst>
          </a:prstGeom>
          <a:solidFill>
            <a:srgbClr val="1E8449"/>
          </a:solidFill>
          <a:ln w="15875">
            <a:solidFill>
              <a:srgbClr val="1E84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Calibri"/>
              </a:rPr>
              <a:t>OUTPUT</a:t>
            </a:r>
          </a:p>
        </p:txBody>
      </p:sp>
      <p:pic>
        <p:nvPicPr>
          <p:cNvPr id="48" name="Picture 47" descr="thumb_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42032" y="3195401"/>
            <a:ext cx="1426463" cy="814669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2523744" y="4142232"/>
            <a:ext cx="1463039" cy="43891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700" b="0" i="0">
                <a:solidFill>
                  <a:srgbClr val="222222"/>
                </a:solidFill>
                <a:latin typeface="Calibri"/>
              </a:rPr>
              <a:t>Coregistration residuals per date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224527" y="2816352"/>
            <a:ext cx="2011680" cy="1700784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 w="15875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1" name="Picture 50" descr="icon_frin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88536" y="2889504"/>
            <a:ext cx="502920" cy="50292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4828031" y="2871216"/>
            <a:ext cx="137160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1" i="0">
                <a:solidFill>
                  <a:srgbClr val="1B4F72"/>
                </a:solidFill>
                <a:latin typeface="Calibri"/>
              </a:rPr>
              <a:t>Phase 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828031" y="3063240"/>
            <a:ext cx="1371600" cy="38404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050" b="1" i="0">
                <a:solidFill>
                  <a:srgbClr val="1B4F72"/>
                </a:solidFill>
                <a:latin typeface="Calibri"/>
              </a:rPr>
              <a:t>Interferogram generation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97679" y="3474720"/>
            <a:ext cx="1883664" cy="8686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Calibri"/>
              </a:rPr>
              <a:t>Form interferograms; multilook 28 × 12 (~90 m × 90 m); filter; unwrap with SNAPHU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97679" y="4270248"/>
            <a:ext cx="1883664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750" b="0" i="1">
                <a:solidFill>
                  <a:srgbClr val="117A65"/>
                </a:solidFill>
                <a:latin typeface="Calibri"/>
              </a:rPr>
              <a:t>gates G10, G11, G18, G20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391655" y="2816352"/>
            <a:ext cx="1536191" cy="1700784"/>
          </a:xfrm>
          <a:prstGeom prst="roundRect">
            <a:avLst>
              <a:gd name="adj" fmla="val 8000"/>
            </a:avLst>
          </a:prstGeom>
          <a:solidFill>
            <a:srgbClr val="F4FBF6"/>
          </a:solidFill>
          <a:ln w="15875">
            <a:solidFill>
              <a:srgbClr val="1E84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57" name="Connector 56"/>
          <p:cNvCxnSpPr/>
          <p:nvPr/>
        </p:nvCxnSpPr>
        <p:spPr>
          <a:xfrm>
            <a:off x="6245351" y="3666744"/>
            <a:ext cx="137161" cy="0"/>
          </a:xfrm>
          <a:prstGeom prst="line">
            <a:avLst/>
          </a:prstGeom>
          <a:ln w="19050">
            <a:solidFill>
              <a:srgbClr val="1E844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/>
          <p:cNvSpPr/>
          <p:nvPr/>
        </p:nvSpPr>
        <p:spPr>
          <a:xfrm>
            <a:off x="6455664" y="2880360"/>
            <a:ext cx="502920" cy="173736"/>
          </a:xfrm>
          <a:prstGeom prst="roundRect">
            <a:avLst>
              <a:gd name="adj" fmla="val 25000"/>
            </a:avLst>
          </a:prstGeom>
          <a:solidFill>
            <a:srgbClr val="1E8449"/>
          </a:solidFill>
          <a:ln w="15875">
            <a:solidFill>
              <a:srgbClr val="1E84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Calibri"/>
              </a:rPr>
              <a:t>OUTPUT</a:t>
            </a:r>
          </a:p>
        </p:txBody>
      </p:sp>
      <p:pic>
        <p:nvPicPr>
          <p:cNvPr id="59" name="Picture 58" descr="thumb_4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75183" y="3090672"/>
            <a:ext cx="1169137" cy="1024128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6428231" y="4142232"/>
            <a:ext cx="1463039" cy="43891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700" b="0" i="0">
                <a:solidFill>
                  <a:srgbClr val="222222"/>
                </a:solidFill>
                <a:latin typeface="Calibri"/>
              </a:rPr>
              <a:t>Filtered interferogram, 8 Jan – 23 Feb 2008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129015" y="2816352"/>
            <a:ext cx="2011680" cy="1700784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 w="15875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2" name="Picture 61" descr="icon_gri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93023" y="2889504"/>
            <a:ext cx="502920" cy="502920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8732519" y="2871216"/>
            <a:ext cx="137160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1" i="0">
                <a:solidFill>
                  <a:srgbClr val="1B4F72"/>
                </a:solidFill>
                <a:latin typeface="Calibri"/>
              </a:rPr>
              <a:t>Phase 4.5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732519" y="3063240"/>
            <a:ext cx="1371600" cy="38404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050" b="1" i="0">
                <a:solidFill>
                  <a:srgbClr val="1B4F72"/>
                </a:solidFill>
                <a:latin typeface="Calibri"/>
              </a:rPr>
              <a:t>Visual quality control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202167" y="3474720"/>
            <a:ext cx="1883664" cy="8686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Calibri"/>
              </a:rPr>
              <a:t>Phase and amplitude report pages for every interferogram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202167" y="4270248"/>
            <a:ext cx="1883664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750" b="0" i="1">
                <a:solidFill>
                  <a:srgbClr val="117A65"/>
                </a:solidFill>
                <a:latin typeface="Calibri"/>
              </a:rPr>
              <a:t>visual check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0296144" y="2816352"/>
            <a:ext cx="1536191" cy="1700784"/>
          </a:xfrm>
          <a:prstGeom prst="roundRect">
            <a:avLst>
              <a:gd name="adj" fmla="val 8000"/>
            </a:avLst>
          </a:prstGeom>
          <a:solidFill>
            <a:srgbClr val="F4FBF6"/>
          </a:solidFill>
          <a:ln w="15875">
            <a:solidFill>
              <a:srgbClr val="1E84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8" name="Connector 67"/>
          <p:cNvCxnSpPr/>
          <p:nvPr/>
        </p:nvCxnSpPr>
        <p:spPr>
          <a:xfrm>
            <a:off x="10149840" y="3666744"/>
            <a:ext cx="137160" cy="0"/>
          </a:xfrm>
          <a:prstGeom prst="line">
            <a:avLst/>
          </a:prstGeom>
          <a:ln w="19050">
            <a:solidFill>
              <a:srgbClr val="1E844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ounded Rectangle 68"/>
          <p:cNvSpPr/>
          <p:nvPr/>
        </p:nvSpPr>
        <p:spPr>
          <a:xfrm>
            <a:off x="10360152" y="2880360"/>
            <a:ext cx="502920" cy="173736"/>
          </a:xfrm>
          <a:prstGeom prst="roundRect">
            <a:avLst>
              <a:gd name="adj" fmla="val 25000"/>
            </a:avLst>
          </a:prstGeom>
          <a:solidFill>
            <a:srgbClr val="1E8449"/>
          </a:solidFill>
          <a:ln w="15875">
            <a:solidFill>
              <a:srgbClr val="1E84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Calibri"/>
              </a:rPr>
              <a:t>OUTPUT</a:t>
            </a:r>
          </a:p>
        </p:txBody>
      </p:sp>
      <p:pic>
        <p:nvPicPr>
          <p:cNvPr id="70" name="Picture 69" descr="thumb_5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412390" y="3090672"/>
            <a:ext cx="1303699" cy="1024128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0332719" y="4142232"/>
            <a:ext cx="1463039" cy="43891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700" b="0" i="0">
                <a:solidFill>
                  <a:srgbClr val="222222"/>
                </a:solidFill>
                <a:latin typeface="Calibri"/>
              </a:rPr>
              <a:t>Report page used to inspect every pair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20040" y="4672584"/>
            <a:ext cx="2011680" cy="1700784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 w="15875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3" name="Picture 72" descr="icon_chart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4048" y="4745736"/>
            <a:ext cx="502920" cy="502920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923544" y="4727448"/>
            <a:ext cx="137160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1" i="0">
                <a:solidFill>
                  <a:srgbClr val="1B4F72"/>
                </a:solidFill>
                <a:latin typeface="Calibri"/>
              </a:rPr>
              <a:t>Phase 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23544" y="4919472"/>
            <a:ext cx="1371600" cy="38404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050" b="1" i="0">
                <a:solidFill>
                  <a:srgbClr val="1B4F72"/>
                </a:solidFill>
                <a:latin typeface="Calibri"/>
              </a:rPr>
              <a:t>SBAS time-series analysis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93192" y="5330952"/>
            <a:ext cx="1883664" cy="8686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Calibri"/>
              </a:rPr>
              <a:t>MintPy inversion; DEM-error correction; ramp removal; coherence and water masks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93192" y="6126480"/>
            <a:ext cx="1883664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750" b="0" i="1">
                <a:solidFill>
                  <a:srgbClr val="117A65"/>
                </a:solidFill>
                <a:latin typeface="Calibri"/>
              </a:rPr>
              <a:t>gates G12, G13, G15, G19, G22, G23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2487168" y="4672584"/>
            <a:ext cx="1536191" cy="1700784"/>
          </a:xfrm>
          <a:prstGeom prst="roundRect">
            <a:avLst>
              <a:gd name="adj" fmla="val 8000"/>
            </a:avLst>
          </a:prstGeom>
          <a:solidFill>
            <a:srgbClr val="F4FBF6"/>
          </a:solidFill>
          <a:ln w="15875">
            <a:solidFill>
              <a:srgbClr val="1E84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79" name="Connector 78"/>
          <p:cNvCxnSpPr/>
          <p:nvPr/>
        </p:nvCxnSpPr>
        <p:spPr>
          <a:xfrm>
            <a:off x="2340864" y="5522976"/>
            <a:ext cx="137160" cy="0"/>
          </a:xfrm>
          <a:prstGeom prst="line">
            <a:avLst/>
          </a:prstGeom>
          <a:ln w="19050">
            <a:solidFill>
              <a:srgbClr val="1E844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Rounded Rectangle 79"/>
          <p:cNvSpPr/>
          <p:nvPr/>
        </p:nvSpPr>
        <p:spPr>
          <a:xfrm>
            <a:off x="2551176" y="4736592"/>
            <a:ext cx="502920" cy="173736"/>
          </a:xfrm>
          <a:prstGeom prst="roundRect">
            <a:avLst>
              <a:gd name="adj" fmla="val 25000"/>
            </a:avLst>
          </a:prstGeom>
          <a:solidFill>
            <a:srgbClr val="1E8449"/>
          </a:solidFill>
          <a:ln w="15875">
            <a:solidFill>
              <a:srgbClr val="1E84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Calibri"/>
              </a:rPr>
              <a:t>OUTPUT</a:t>
            </a:r>
          </a:p>
        </p:txBody>
      </p:sp>
      <p:pic>
        <p:nvPicPr>
          <p:cNvPr id="81" name="Picture 80" descr="thumb_6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542032" y="5199034"/>
            <a:ext cx="1426463" cy="519866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2523744" y="5998464"/>
            <a:ext cx="1463039" cy="43891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700" b="0" i="0">
                <a:solidFill>
                  <a:srgbClr val="222222"/>
                </a:solidFill>
                <a:latin typeface="Calibri"/>
              </a:rPr>
              <a:t>Network coloured by coherence; coherence matrix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4224527" y="4672584"/>
            <a:ext cx="2011680" cy="1700784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 w="15875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4" name="Picture 83" descr="icon_map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288536" y="4745736"/>
            <a:ext cx="502920" cy="502920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4828031" y="4727448"/>
            <a:ext cx="137160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1" i="0">
                <a:solidFill>
                  <a:srgbClr val="1B4F72"/>
                </a:solidFill>
                <a:latin typeface="Calibri"/>
              </a:rPr>
              <a:t>Phase 6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828031" y="4919472"/>
            <a:ext cx="1371600" cy="38404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050" b="1" i="0">
                <a:solidFill>
                  <a:srgbClr val="1B4F72"/>
                </a:solidFill>
                <a:latin typeface="Calibri"/>
              </a:rPr>
              <a:t>Geocoding and delivery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297679" y="5330952"/>
            <a:ext cx="1883664" cy="8686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Calibri"/>
              </a:rPr>
              <a:t>Geocode to a common 1/1200° (~90 m) grid; 16 products per frame; 27-check verification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297679" y="6126480"/>
            <a:ext cx="1883664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750" b="0" i="1">
                <a:solidFill>
                  <a:srgbClr val="117A65"/>
                </a:solidFill>
                <a:latin typeface="Calibri"/>
              </a:rPr>
              <a:t>gate G14; 27 checks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6391655" y="4672584"/>
            <a:ext cx="1536191" cy="1700784"/>
          </a:xfrm>
          <a:prstGeom prst="roundRect">
            <a:avLst>
              <a:gd name="adj" fmla="val 8000"/>
            </a:avLst>
          </a:prstGeom>
          <a:solidFill>
            <a:srgbClr val="F4FBF6"/>
          </a:solidFill>
          <a:ln w="15875">
            <a:solidFill>
              <a:srgbClr val="1E84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90" name="Connector 89"/>
          <p:cNvCxnSpPr/>
          <p:nvPr/>
        </p:nvCxnSpPr>
        <p:spPr>
          <a:xfrm>
            <a:off x="6245351" y="5522976"/>
            <a:ext cx="137161" cy="0"/>
          </a:xfrm>
          <a:prstGeom prst="line">
            <a:avLst/>
          </a:prstGeom>
          <a:ln w="19050">
            <a:solidFill>
              <a:srgbClr val="1E844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Rounded Rectangle 90"/>
          <p:cNvSpPr/>
          <p:nvPr/>
        </p:nvSpPr>
        <p:spPr>
          <a:xfrm>
            <a:off x="6455664" y="4736592"/>
            <a:ext cx="502920" cy="173736"/>
          </a:xfrm>
          <a:prstGeom prst="roundRect">
            <a:avLst>
              <a:gd name="adj" fmla="val 25000"/>
            </a:avLst>
          </a:prstGeom>
          <a:solidFill>
            <a:srgbClr val="1E8449"/>
          </a:solidFill>
          <a:ln w="15875">
            <a:solidFill>
              <a:srgbClr val="1E84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Calibri"/>
              </a:rPr>
              <a:t>OUTPUT</a:t>
            </a:r>
          </a:p>
        </p:txBody>
      </p:sp>
      <p:pic>
        <p:nvPicPr>
          <p:cNvPr id="92" name="Picture 91" descr="thumb_7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53997" y="4946904"/>
            <a:ext cx="1411508" cy="1024128"/>
          </a:xfrm>
          <a:prstGeom prst="rect">
            <a:avLst/>
          </a:prstGeom>
        </p:spPr>
      </p:pic>
      <p:sp>
        <p:nvSpPr>
          <p:cNvPr id="93" name="TextBox 92"/>
          <p:cNvSpPr txBox="1"/>
          <p:nvPr/>
        </p:nvSpPr>
        <p:spPr>
          <a:xfrm>
            <a:off x="6428231" y="5998464"/>
            <a:ext cx="1463039" cy="43891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700" b="0" i="0">
                <a:solidFill>
                  <a:srgbClr val="222222"/>
                </a:solidFill>
                <a:latin typeface="Calibri"/>
              </a:rPr>
              <a:t>Delivered LOS velocity map (cm/yr)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8129015" y="4672584"/>
            <a:ext cx="2011680" cy="1700784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 w="15875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5" name="Picture 94" descr="icon_lens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193023" y="4745736"/>
            <a:ext cx="502920" cy="502920"/>
          </a:xfrm>
          <a:prstGeom prst="rect">
            <a:avLst/>
          </a:prstGeom>
        </p:spPr>
      </p:pic>
      <p:sp>
        <p:nvSpPr>
          <p:cNvPr id="96" name="TextBox 95"/>
          <p:cNvSpPr txBox="1"/>
          <p:nvPr/>
        </p:nvSpPr>
        <p:spPr>
          <a:xfrm>
            <a:off x="8732519" y="4727448"/>
            <a:ext cx="137160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1" i="0">
                <a:solidFill>
                  <a:srgbClr val="1B4F72"/>
                </a:solidFill>
                <a:latin typeface="Calibri"/>
              </a:rPr>
              <a:t>Phase 7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732519" y="4919472"/>
            <a:ext cx="1371600" cy="38404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050" b="1" i="0">
                <a:solidFill>
                  <a:srgbClr val="1B4F72"/>
                </a:solidFill>
                <a:latin typeface="Calibri"/>
              </a:rPr>
              <a:t>Interpretation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202167" y="5330952"/>
            <a:ext cx="1883664" cy="8686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Calibri"/>
              </a:rPr>
              <a:t>Read the velocity maps; measure subsidence against nearby stable ground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202167" y="6126480"/>
            <a:ext cx="1883664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750" b="0" i="1">
                <a:solidFill>
                  <a:srgbClr val="117A65"/>
                </a:solidFill>
                <a:latin typeface="Calibri"/>
              </a:rPr>
              <a:t>two-track check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10296144" y="4672584"/>
            <a:ext cx="1536191" cy="1700784"/>
          </a:xfrm>
          <a:prstGeom prst="roundRect">
            <a:avLst>
              <a:gd name="adj" fmla="val 8000"/>
            </a:avLst>
          </a:prstGeom>
          <a:solidFill>
            <a:srgbClr val="F4FBF6"/>
          </a:solidFill>
          <a:ln w="15875">
            <a:solidFill>
              <a:srgbClr val="1E84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01" name="Connector 100"/>
          <p:cNvCxnSpPr/>
          <p:nvPr/>
        </p:nvCxnSpPr>
        <p:spPr>
          <a:xfrm>
            <a:off x="10149840" y="5522976"/>
            <a:ext cx="137160" cy="0"/>
          </a:xfrm>
          <a:prstGeom prst="line">
            <a:avLst/>
          </a:prstGeom>
          <a:ln w="19050">
            <a:solidFill>
              <a:srgbClr val="1E844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Rounded Rectangle 101"/>
          <p:cNvSpPr/>
          <p:nvPr/>
        </p:nvSpPr>
        <p:spPr>
          <a:xfrm>
            <a:off x="10360152" y="4736592"/>
            <a:ext cx="502920" cy="173736"/>
          </a:xfrm>
          <a:prstGeom prst="roundRect">
            <a:avLst>
              <a:gd name="adj" fmla="val 25000"/>
            </a:avLst>
          </a:prstGeom>
          <a:solidFill>
            <a:srgbClr val="1E8449"/>
          </a:solidFill>
          <a:ln w="15875">
            <a:solidFill>
              <a:srgbClr val="1E84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Calibri"/>
              </a:rPr>
              <a:t>OUTPUT</a:t>
            </a:r>
          </a:p>
        </p:txBody>
      </p:sp>
      <p:pic>
        <p:nvPicPr>
          <p:cNvPr id="103" name="Picture 102" descr="thumb_8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351008" y="5056388"/>
            <a:ext cx="1426463" cy="805159"/>
          </a:xfrm>
          <a:prstGeom prst="rect">
            <a:avLst/>
          </a:prstGeom>
        </p:spPr>
      </p:pic>
      <p:sp>
        <p:nvSpPr>
          <p:cNvPr id="104" name="TextBox 103"/>
          <p:cNvSpPr txBox="1"/>
          <p:nvPr/>
        </p:nvSpPr>
        <p:spPr>
          <a:xfrm>
            <a:off x="10332719" y="5998464"/>
            <a:ext cx="1463039" cy="43891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700" b="0" i="0">
                <a:solidFill>
                  <a:srgbClr val="222222"/>
                </a:solidFill>
                <a:latin typeface="Calibri"/>
              </a:rPr>
              <a:t>Cabanatuan bowl, Path 448 and Path 449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4032503" y="1810512"/>
            <a:ext cx="182880" cy="0"/>
          </a:xfrm>
          <a:prstGeom prst="line">
            <a:avLst/>
          </a:prstGeom>
          <a:ln w="25400">
            <a:solidFill>
              <a:srgbClr val="1B4F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7936991" y="1810512"/>
            <a:ext cx="182880" cy="0"/>
          </a:xfrm>
          <a:prstGeom prst="line">
            <a:avLst/>
          </a:prstGeom>
          <a:ln w="25400">
            <a:solidFill>
              <a:srgbClr val="1B4F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Freeform 106"/>
          <p:cNvSpPr/>
          <p:nvPr/>
        </p:nvSpPr>
        <p:spPr>
          <a:xfrm>
            <a:off x="2171700" y="2660904"/>
            <a:ext cx="7808976" cy="155448"/>
          </a:xfrm>
          <a:custGeom>
            <a:avLst/>
            <a:gdLst/>
            <a:ahLst/>
            <a:cxnLst/>
            <a:rect l="l" t="t" r="r" b="b"/>
            <a:pathLst>
              <a:path w="7808976" h="155448">
                <a:moveTo>
                  <a:pt x="7808976" y="0"/>
                </a:moveTo>
                <a:lnTo>
                  <a:pt x="7808976" y="77724"/>
                </a:lnTo>
                <a:lnTo>
                  <a:pt x="0" y="77724"/>
                </a:lnTo>
                <a:lnTo>
                  <a:pt x="0" y="155448"/>
                </a:lnTo>
              </a:path>
            </a:pathLst>
          </a:custGeom>
          <a:noFill/>
          <a:ln w="19050">
            <a:solidFill>
              <a:srgbClr val="1B4F72"/>
            </a:solidFill>
            <a:tailEnd type="triangl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8" name="Connector 107"/>
          <p:cNvCxnSpPr/>
          <p:nvPr/>
        </p:nvCxnSpPr>
        <p:spPr>
          <a:xfrm>
            <a:off x="4032503" y="3666744"/>
            <a:ext cx="182880" cy="0"/>
          </a:xfrm>
          <a:prstGeom prst="line">
            <a:avLst/>
          </a:prstGeom>
          <a:ln w="25400">
            <a:solidFill>
              <a:srgbClr val="1B4F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7936991" y="3666744"/>
            <a:ext cx="182880" cy="0"/>
          </a:xfrm>
          <a:prstGeom prst="line">
            <a:avLst/>
          </a:prstGeom>
          <a:ln w="25400">
            <a:solidFill>
              <a:srgbClr val="1B4F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Freeform 109"/>
          <p:cNvSpPr/>
          <p:nvPr/>
        </p:nvSpPr>
        <p:spPr>
          <a:xfrm>
            <a:off x="2171700" y="4517136"/>
            <a:ext cx="7808976" cy="155448"/>
          </a:xfrm>
          <a:custGeom>
            <a:avLst/>
            <a:gdLst/>
            <a:ahLst/>
            <a:cxnLst/>
            <a:rect l="l" t="t" r="r" b="b"/>
            <a:pathLst>
              <a:path w="7808976" h="155448">
                <a:moveTo>
                  <a:pt x="7808976" y="0"/>
                </a:moveTo>
                <a:lnTo>
                  <a:pt x="7808976" y="77724"/>
                </a:lnTo>
                <a:lnTo>
                  <a:pt x="0" y="77724"/>
                </a:lnTo>
                <a:lnTo>
                  <a:pt x="0" y="155448"/>
                </a:lnTo>
              </a:path>
            </a:pathLst>
          </a:custGeom>
          <a:noFill/>
          <a:ln w="19050">
            <a:solidFill>
              <a:srgbClr val="1B4F72"/>
            </a:solidFill>
            <a:tailEnd type="triangl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1" name="Connector 110"/>
          <p:cNvCxnSpPr/>
          <p:nvPr/>
        </p:nvCxnSpPr>
        <p:spPr>
          <a:xfrm>
            <a:off x="4032503" y="5522976"/>
            <a:ext cx="182880" cy="0"/>
          </a:xfrm>
          <a:prstGeom prst="line">
            <a:avLst/>
          </a:prstGeom>
          <a:ln w="25400">
            <a:solidFill>
              <a:srgbClr val="1B4F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7936991" y="5522976"/>
            <a:ext cx="182880" cy="0"/>
          </a:xfrm>
          <a:prstGeom prst="line">
            <a:avLst/>
          </a:prstGeom>
          <a:ln w="25400">
            <a:solidFill>
              <a:srgbClr val="1B4F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Rounded Rectangle 112"/>
          <p:cNvSpPr/>
          <p:nvPr/>
        </p:nvSpPr>
        <p:spPr>
          <a:xfrm>
            <a:off x="365760" y="6492240"/>
            <a:ext cx="274320" cy="146304"/>
          </a:xfrm>
          <a:prstGeom prst="roundRect">
            <a:avLst>
              <a:gd name="adj" fmla="val 8000"/>
            </a:avLst>
          </a:prstGeom>
          <a:solidFill>
            <a:srgbClr val="FDF2E9"/>
          </a:solidFill>
          <a:ln w="15875">
            <a:solidFill>
              <a:srgbClr val="CA6F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4" name="TextBox 113"/>
          <p:cNvSpPr txBox="1"/>
          <p:nvPr/>
        </p:nvSpPr>
        <p:spPr>
          <a:xfrm>
            <a:off x="685800" y="6464807"/>
            <a:ext cx="201168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new for FBS+FBD processing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2743200" y="6492240"/>
            <a:ext cx="274320" cy="146304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 w="15875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6" name="TextBox 115"/>
          <p:cNvSpPr txBox="1"/>
          <p:nvPr/>
        </p:nvSpPr>
        <p:spPr>
          <a:xfrm>
            <a:off x="3063240" y="6464807"/>
            <a:ext cx="201168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carried over from FBS-only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5120640" y="6492240"/>
            <a:ext cx="274320" cy="146304"/>
          </a:xfrm>
          <a:prstGeom prst="roundRect">
            <a:avLst>
              <a:gd name="adj" fmla="val 8000"/>
            </a:avLst>
          </a:prstGeom>
          <a:solidFill>
            <a:srgbClr val="F4FBF6"/>
          </a:solidFill>
          <a:ln w="15875">
            <a:solidFill>
              <a:srgbClr val="1E84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8" name="TextBox 117"/>
          <p:cNvSpPr txBox="1"/>
          <p:nvPr/>
        </p:nvSpPr>
        <p:spPr>
          <a:xfrm>
            <a:off x="5440680" y="6464807"/>
            <a:ext cx="201168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output of the phase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589520" y="6464807"/>
            <a:ext cx="438912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00" b="0" i="1">
                <a:solidFill>
                  <a:srgbClr val="117A65"/>
                </a:solidFill>
                <a:latin typeface="Calibri"/>
              </a:rPr>
              <a:t>Green italic: automated quality gates (G1–G23); a failed gate stops the phase.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4114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2200" b="1" i="0">
                <a:solidFill>
                  <a:srgbClr val="1B4F72"/>
                </a:solidFill>
                <a:latin typeface="Calibri"/>
              </a:rPr>
              <a:t>Progression of LInOG ground-velocity coverage, 2007–2011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03504"/>
            <a:ext cx="1143000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ALOS-1 PALSAR ascending tracks, deramped LOS velocity, same ±5 cm/yr colour scale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25880" y="960120"/>
            <a:ext cx="3291840" cy="329184"/>
          </a:xfrm>
          <a:prstGeom prst="roundRect">
            <a:avLst>
              <a:gd name="adj" fmla="val 30000"/>
            </a:avLst>
          </a:prstGeom>
          <a:solidFill>
            <a:srgbClr val="7F8C8D"/>
          </a:solidFill>
          <a:ln w="15875">
            <a:solidFill>
              <a:srgbClr val="7F8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YEAR 1 (reported June 2026)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493776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1200" b="1" i="0">
                <a:solidFill>
                  <a:srgbClr val="1B4F72"/>
                </a:solidFill>
                <a:latin typeface="Calibri"/>
              </a:rPr>
              <a:t>FBS only · Path 448 · 5 frames</a:t>
            </a:r>
          </a:p>
        </p:txBody>
      </p:sp>
      <p:pic>
        <p:nvPicPr>
          <p:cNvPr id="6" name="Picture 5" descr="panel_y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387" y="1645920"/>
            <a:ext cx="3458825" cy="43434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6053328"/>
            <a:ext cx="448056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77240" y="6080760"/>
            <a:ext cx="4389120" cy="53035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alibri"/>
              </a:rPr>
              <a:t>10 dates/frame · 34–36 interferograms/frame</a:t>
            </a:r>
          </a:p>
          <a:p>
            <a:pPr algn="l"/>
            <a:r>
              <a:rPr sz="1000" b="0" i="0">
                <a:solidFill>
                  <a:srgbClr val="222222"/>
                </a:solidFill>
                <a:latin typeface="Calibri"/>
              </a:rPr>
              <a:t>~10,000 km² reported · no water mask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960120"/>
            <a:ext cx="3291840" cy="329184"/>
          </a:xfrm>
          <a:prstGeom prst="roundRect">
            <a:avLst>
              <a:gd name="adj" fmla="val 30000"/>
            </a:avLst>
          </a:prstGeom>
          <a:solidFill>
            <a:srgbClr val="CA6F1E"/>
          </a:solidFill>
          <a:ln w="15875">
            <a:solidFill>
              <a:srgbClr val="CA6F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YEAR 2, QUARTER 2 (this report)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1325880"/>
            <a:ext cx="493776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1200" b="1" i="0">
                <a:solidFill>
                  <a:srgbClr val="1B4F72"/>
                </a:solidFill>
                <a:latin typeface="Calibri"/>
              </a:rPr>
              <a:t>FBS + FBD · Paths 447–449 · 12 frames</a:t>
            </a:r>
          </a:p>
        </p:txBody>
      </p:sp>
      <p:pic>
        <p:nvPicPr>
          <p:cNvPr id="11" name="Picture 10" descr="panel_q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4507" y="1645920"/>
            <a:ext cx="3458825" cy="43434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263640" y="6053328"/>
            <a:ext cx="448056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309359" y="6080760"/>
            <a:ext cx="4389120" cy="53035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alibri"/>
              </a:rPr>
              <a:t>19–24 dates/frame · 1,634 interferograms in total</a:t>
            </a:r>
          </a:p>
          <a:p>
            <a:pPr algn="l"/>
            <a:r>
              <a:rPr sz="1000" b="0" i="0">
                <a:solidFill>
                  <a:srgbClr val="222222"/>
                </a:solidFill>
                <a:latin typeface="Calibri"/>
              </a:rPr>
              <a:t>27,893 km² with valid data · water-masked (v1.2)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440680" y="3429000"/>
            <a:ext cx="548640" cy="411480"/>
          </a:xfrm>
          <a:prstGeom prst="rightArrow">
            <a:avLst/>
          </a:prstGeom>
          <a:solidFill>
            <a:srgbClr val="CA6F1E"/>
          </a:solidFill>
          <a:ln>
            <a:solidFill>
              <a:srgbClr val="CA6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color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8520" y="2694790"/>
            <a:ext cx="1097280" cy="210849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4114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2200" b="1" i="0">
                <a:solidFill>
                  <a:srgbClr val="1B4F72"/>
                </a:solidFill>
                <a:latin typeface="Calibri"/>
              </a:rPr>
              <a:t>LInOG tutorial route on EarthScope GeoLab (manual v4.0, Chapter 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03504"/>
            <a:ext cx="1143000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Browser-based JupyterLab server: trainees run the LInOG notebook on a four-date demonstration stack, without access to the project server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005840"/>
            <a:ext cx="1755648" cy="1965960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 w="15875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84632" y="1051560"/>
            <a:ext cx="914400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000" b="1" i="0">
                <a:solidFill>
                  <a:srgbClr val="1B4F72"/>
                </a:solidFill>
                <a:latin typeface="Calibri"/>
              </a:rPr>
              <a:t>Step 1</a:t>
            </a:r>
          </a:p>
        </p:txBody>
      </p:sp>
      <p:pic>
        <p:nvPicPr>
          <p:cNvPr id="6" name="Picture 5" descr="icon_g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19" y="1280160"/>
            <a:ext cx="658368" cy="6583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993392"/>
            <a:ext cx="1664207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1000" b="1" i="0">
                <a:solidFill>
                  <a:srgbClr val="1B4F72"/>
                </a:solidFill>
                <a:latin typeface="Calibri"/>
              </a:rPr>
              <a:t>EarthScope account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" y="2286000"/>
            <a:ext cx="1609344" cy="6400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Calibri"/>
              </a:rPr>
              <a:t>Google log-in to the GeoLab hub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85416" y="1984248"/>
            <a:ext cx="182880" cy="0"/>
          </a:xfrm>
          <a:prstGeom prst="line">
            <a:avLst/>
          </a:prstGeom>
          <a:ln w="22225">
            <a:solidFill>
              <a:srgbClr val="1B4F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386584" y="1005840"/>
            <a:ext cx="1755648" cy="1965960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 w="15875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2459736" y="1051560"/>
            <a:ext cx="914400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000" b="1" i="0">
                <a:solidFill>
                  <a:srgbClr val="1B4F72"/>
                </a:solidFill>
                <a:latin typeface="Calibri"/>
              </a:rPr>
              <a:t>Step 2</a:t>
            </a:r>
          </a:p>
        </p:txBody>
      </p:sp>
      <p:pic>
        <p:nvPicPr>
          <p:cNvPr id="12" name="Picture 11" descr="icon_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5224" y="1280160"/>
            <a:ext cx="658368" cy="6583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432304" y="1993392"/>
            <a:ext cx="1664207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1000" b="1" i="0">
                <a:solidFill>
                  <a:srgbClr val="1B4F72"/>
                </a:solidFill>
                <a:latin typeface="Calibri"/>
              </a:rPr>
              <a:t>Start a server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59736" y="2286000"/>
            <a:ext cx="1609344" cy="6400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Calibri"/>
              </a:rPr>
              <a:t>29 GB profile: 3.66 CPU cores, 29,776 MiB memory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160520" y="1984248"/>
            <a:ext cx="182880" cy="0"/>
          </a:xfrm>
          <a:prstGeom prst="line">
            <a:avLst/>
          </a:prstGeom>
          <a:ln w="22225">
            <a:solidFill>
              <a:srgbClr val="1B4F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361688" y="1005840"/>
            <a:ext cx="1755648" cy="1965960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 w="15875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434840" y="1051560"/>
            <a:ext cx="914400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000" b="1" i="0">
                <a:solidFill>
                  <a:srgbClr val="1B4F72"/>
                </a:solidFill>
                <a:latin typeface="Calibri"/>
              </a:rPr>
              <a:t>Step 3</a:t>
            </a:r>
          </a:p>
        </p:txBody>
      </p:sp>
      <p:pic>
        <p:nvPicPr>
          <p:cNvPr id="18" name="Picture 17" descr="icon_archi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328" y="1280160"/>
            <a:ext cx="658368" cy="65836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407408" y="1993392"/>
            <a:ext cx="1664207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1000" b="1" i="0">
                <a:solidFill>
                  <a:srgbClr val="1B4F72"/>
                </a:solidFill>
                <a:latin typeface="Calibri"/>
              </a:rPr>
              <a:t>One-time install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286000"/>
            <a:ext cx="1609344" cy="6400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Calibri"/>
              </a:rPr>
              <a:t>ISCE2, MintPy, GDAL, SNAPHU into home (~7 min)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135624" y="1984248"/>
            <a:ext cx="182880" cy="0"/>
          </a:xfrm>
          <a:prstGeom prst="line">
            <a:avLst/>
          </a:prstGeom>
          <a:ln w="22225">
            <a:solidFill>
              <a:srgbClr val="1B4F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336792" y="1005840"/>
            <a:ext cx="1755648" cy="1965960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 w="15875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409944" y="1051560"/>
            <a:ext cx="914400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000" b="1" i="0">
                <a:solidFill>
                  <a:srgbClr val="1B4F72"/>
                </a:solidFill>
                <a:latin typeface="Calibri"/>
              </a:rPr>
              <a:t>Step 4</a:t>
            </a:r>
          </a:p>
        </p:txBody>
      </p:sp>
      <p:pic>
        <p:nvPicPr>
          <p:cNvPr id="24" name="Picture 23" descr="icon_mounta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5432" y="1280160"/>
            <a:ext cx="658368" cy="65836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382512" y="1993392"/>
            <a:ext cx="1664207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1000" b="1" i="0">
                <a:solidFill>
                  <a:srgbClr val="1B4F72"/>
                </a:solidFill>
                <a:latin typeface="Calibri"/>
              </a:rPr>
              <a:t>Demonstration stack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9944" y="2286000"/>
            <a:ext cx="1609344" cy="6400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Calibri"/>
              </a:rPr>
              <a:t>Path 449 Frame 0290: 4 dates, 6 pairs (2008)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110728" y="1984248"/>
            <a:ext cx="182880" cy="0"/>
          </a:xfrm>
          <a:prstGeom prst="line">
            <a:avLst/>
          </a:prstGeom>
          <a:ln w="22225">
            <a:solidFill>
              <a:srgbClr val="1B4F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311896" y="1005840"/>
            <a:ext cx="1755648" cy="1965960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 w="15875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385048" y="1051560"/>
            <a:ext cx="914400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000" b="1" i="0">
                <a:solidFill>
                  <a:srgbClr val="1B4F72"/>
                </a:solidFill>
                <a:latin typeface="Calibri"/>
              </a:rPr>
              <a:t>Step 5</a:t>
            </a:r>
          </a:p>
        </p:txBody>
      </p:sp>
      <p:pic>
        <p:nvPicPr>
          <p:cNvPr id="30" name="Picture 29" descr="icon_cha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0536" y="1280160"/>
            <a:ext cx="658368" cy="65836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357616" y="1993392"/>
            <a:ext cx="1664207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1000" b="1" i="0">
                <a:solidFill>
                  <a:srgbClr val="1B4F72"/>
                </a:solidFill>
                <a:latin typeface="Calibri"/>
              </a:rPr>
              <a:t>Run the notebook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5048" y="2286000"/>
            <a:ext cx="1609344" cy="6400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Calibri"/>
              </a:rPr>
              <a:t>Cells 0–18 call the LInOG scripts, Phases 0–6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0085832" y="1984248"/>
            <a:ext cx="182880" cy="0"/>
          </a:xfrm>
          <a:prstGeom prst="line">
            <a:avLst/>
          </a:prstGeom>
          <a:ln w="22225">
            <a:solidFill>
              <a:srgbClr val="1B4F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10287000" y="1005840"/>
            <a:ext cx="1755648" cy="1965960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 w="15875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10360152" y="1051560"/>
            <a:ext cx="914400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000" b="1" i="0">
                <a:solidFill>
                  <a:srgbClr val="1B4F72"/>
                </a:solidFill>
                <a:latin typeface="Calibri"/>
              </a:rPr>
              <a:t>Step 6</a:t>
            </a:r>
          </a:p>
        </p:txBody>
      </p:sp>
      <p:pic>
        <p:nvPicPr>
          <p:cNvPr id="36" name="Picture 35" descr="icon_ma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35640" y="1280160"/>
            <a:ext cx="658368" cy="658368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0332720" y="1993392"/>
            <a:ext cx="1664207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1000" b="1" i="0">
                <a:solidFill>
                  <a:srgbClr val="1B4F72"/>
                </a:solidFill>
                <a:latin typeface="Calibri"/>
              </a:rPr>
              <a:t>Check and deliver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60152" y="2286000"/>
            <a:ext cx="1609344" cy="6400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Calibri"/>
              </a:rPr>
              <a:t>18-item run check; 16 products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" y="3108960"/>
            <a:ext cx="1143000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1200" b="1" i="0">
                <a:solidFill>
                  <a:srgbClr val="1E8449"/>
                </a:solidFill>
                <a:latin typeface="Calibri"/>
              </a:rPr>
              <a:t>REAL OUTPUTS PRODUCED ON GEOLAB (September 2026; four-date demonstration stack, for training only)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11480" y="3474720"/>
            <a:ext cx="3703320" cy="3154680"/>
          </a:xfrm>
          <a:prstGeom prst="roundRect">
            <a:avLst>
              <a:gd name="adj" fmla="val 8000"/>
            </a:avLst>
          </a:prstGeom>
          <a:solidFill>
            <a:srgbClr val="F4FBF6"/>
          </a:solidFill>
          <a:ln w="15875">
            <a:solidFill>
              <a:srgbClr val="1E84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1" name="Picture 40" descr="s35_1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1208" y="4056278"/>
            <a:ext cx="3483863" cy="1625803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502920" y="6217920"/>
            <a:ext cx="3520439" cy="36576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Calibri"/>
              </a:rPr>
              <a:t>Phase 4.5: interferogram report sheet (GeoLab, 20 Sept 2026)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297680" y="3474720"/>
            <a:ext cx="3703320" cy="3154680"/>
          </a:xfrm>
          <a:prstGeom prst="roundRect">
            <a:avLst>
              <a:gd name="adj" fmla="val 8000"/>
            </a:avLst>
          </a:prstGeom>
          <a:solidFill>
            <a:srgbClr val="F4FBF6"/>
          </a:solidFill>
          <a:ln w="15875">
            <a:solidFill>
              <a:srgbClr val="1E84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4" name="Picture 43" descr="s35_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8608" y="3566159"/>
            <a:ext cx="3141462" cy="260604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4389120" y="6217920"/>
            <a:ext cx="3520439" cy="36576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Calibri"/>
              </a:rPr>
              <a:t>Phase 5: velocity in radar coordinates (GeoLab, 22 Sept 2026)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83879" y="3474720"/>
            <a:ext cx="3703320" cy="3154680"/>
          </a:xfrm>
          <a:prstGeom prst="roundRect">
            <a:avLst>
              <a:gd name="adj" fmla="val 8000"/>
            </a:avLst>
          </a:prstGeom>
          <a:solidFill>
            <a:srgbClr val="F4FBF6"/>
          </a:solidFill>
          <a:ln w="15875">
            <a:solidFill>
              <a:srgbClr val="1E84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7" name="Picture 46" descr="s35_3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93607" y="3605311"/>
            <a:ext cx="3483863" cy="2527736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8275319" y="6217920"/>
            <a:ext cx="3520439" cy="36576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Calibri"/>
              </a:rPr>
              <a:t>Phase 6: delivered velocity map, cm/yr (GeoLab, 20 Sept 2026)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